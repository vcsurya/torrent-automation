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3" r:id="rId16"/>
    <p:sldId id="274" r:id="rId17"/>
    <p:sldId id="275" r:id="rId18"/>
    <p:sldId id="276" r:id="rId19"/>
    <p:sldId id="277" r:id="rId20"/>
    <p:sldId id="278" r:id="rId21"/>
  </p:sldIdLst>
  <p:sldSz cx="14630400" cy="8229600"/>
  <p:notesSz cx="8229600" cy="14630400"/>
  <p:embeddedFontLst>
    <p:embeddedFont>
      <p:font typeface="Cambria" panose="02040503050406030204" pitchFamily="18" charset="0"/>
      <p:regular r:id="rId23"/>
      <p:bold r:id="rId24"/>
      <p:italic r:id="rId25"/>
      <p:boldItalic r:id="rId26"/>
    </p:embeddedFont>
    <p:embeddedFont>
      <p:font typeface="DM Sans Medium" pitchFamily="2" charset="0"/>
      <p:regular r:id="rId27"/>
      <p:italic r:id="rId28"/>
    </p:embeddedFont>
    <p:embeddedFont>
      <p:font typeface="Inter" panose="020B0604020202020204" charset="0"/>
      <p:regular r:id="rId29"/>
    </p:embeddedFont>
    <p:embeddedFont>
      <p:font typeface="Segoe UI" panose="020B0502040204020203" pitchFamily="34" charset="0"/>
      <p:regular r:id="rId30"/>
      <p:bold r:id="rId31"/>
      <p:italic r:id="rId32"/>
      <p:boldItalic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F8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2" d="100"/>
          <a:sy n="72" d="100"/>
        </p:scale>
        <p:origin x="67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092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89671-04A2-0487-6F74-96C05FE619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9CD10A-68F7-F24A-4457-9F8979C7E5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1E69A9-D362-0FA1-41E4-C7DDB03BF37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B716CB-5083-4387-1E39-2FF87BCE21AB}"/>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1960984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337D3-DF41-FD68-7376-5240321388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147593-0D70-2A84-8E53-DF5F572780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29AFB0-1E2B-C311-22B0-30ADAC59F7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FEAE5F9-EA65-2C73-3EF8-6244655FF19B}"/>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8218488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4E844-AB08-E28E-E8C2-323A161E8D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B848BE-9B2F-D0DA-3258-1A2893C9AE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50C101-22A8-40BC-81EA-13BBD2C903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49269A-1B66-71D7-1881-A678C81BD067}"/>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9393188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569C9-EBD1-45E4-C88A-E3D56B4890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F6A015-0B6C-76C7-9051-B766FD1142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4095F2-BF09-1D99-461F-4278609EB0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F6A7EC-CDC9-EAC3-2C7F-7C0B3EC90525}"/>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693345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D9316-FE8E-6CCA-12D8-8364DF29B6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965C70-B83A-F288-2FFC-8B5079E222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8061C1-302F-0D38-50A1-15A16CDB69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A73AB21-CF38-CD8E-CA9F-D12E9FEF5D55}"/>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9731034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3EFFD-7EBE-8B6A-12C7-06374BAF6D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CA0263-A8E2-93DF-D0E8-B936C6B52C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AC0E35-6EFE-9B25-1018-932DDEC202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9CCA7F-4304-2B59-E9CA-C165A64D8A7F}"/>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1547825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F4B8D-B875-0A29-4FFA-8AC1FDB858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25DEA-CB1E-8236-6571-0A681E6DCB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F2C834-F612-13B7-D2EA-942E5174ECF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1851F4-B4D1-7AAC-5A5E-87EA2976C4DE}"/>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1996662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8CE92-AD6B-D7CA-D59D-27ED5ACBCE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575810-0F94-8871-95D9-04600A2025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EF8B81-3070-C16C-9ACB-E2FF218BC8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35C0E3-35FC-C9EA-013D-40F4C83998DC}"/>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3251095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D52BC-0C00-2667-1860-69BBDD7596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706666-ED85-E84F-556B-090BDE0624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1EFAF6-DE16-F990-8351-1C87C5523B8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F28625-F092-F514-B3E1-33E7B69AF71B}"/>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6671433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BF2EC-5024-A95D-62E8-D4F16329C3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ED759B-2B60-B6B6-66D6-1A3420A34E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382C78-19DA-8176-6621-08A079EF70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418052C-100D-5913-AACF-89D98DFDC24B}"/>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416204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016CD-00B2-181F-7DBF-C2636AB4FE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0F261A-0AD0-235F-4AEE-96F15F161A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1D1E7D-F619-49AF-647A-D32D06C7AF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7625F2D-1775-8041-5F39-300D08DAFB3A}"/>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0689257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txBody>
          <a:bodyPr/>
          <a:lstStyle/>
          <a:p>
            <a:endParaRPr lang="en-IN"/>
          </a:p>
        </p:txBody>
      </p:sp>
      <p:sp>
        <p:nvSpPr>
          <p:cNvPr id="3" name="Shape 1"/>
          <p:cNvSpPr/>
          <p:nvPr/>
        </p:nvSpPr>
        <p:spPr>
          <a:xfrm>
            <a:off x="0" y="0"/>
            <a:ext cx="14630400" cy="8229600"/>
          </a:xfrm>
          <a:prstGeom prst="rect">
            <a:avLst/>
          </a:prstGeom>
          <a:solidFill>
            <a:srgbClr val="F9F8F5"/>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sv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9.png"/><Relationship Id="rId11" Type="http://schemas.openxmlformats.org/officeDocument/2006/relationships/image" Target="../media/image14.svg"/><Relationship Id="rId5" Type="http://schemas.openxmlformats.org/officeDocument/2006/relationships/image" Target="../media/image8.sv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svg"/></Relationships>
</file>

<file path=ppt/slides/_rels/slide5.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hyperlink" Target="https://graph.microsoft.com/.default" TargetMode="External"/><Relationship Id="rId2" Type="http://schemas.openxmlformats.org/officeDocument/2006/relationships/notesSlide" Target="../notesSlides/notesSlide18.xml"/><Relationship Id="rId1" Type="http://schemas.openxmlformats.org/officeDocument/2006/relationships/slideLayout" Target="../slideLayouts/slideLayout10.xml"/><Relationship Id="rId4" Type="http://schemas.openxmlformats.org/officeDocument/2006/relationships/hyperlink" Target="mailto:dcctest@torrentgas.com"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3408878"/>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161613"/>
                </a:solidFill>
                <a:latin typeface="DM Sans Medium" pitchFamily="34" charset="0"/>
                <a:ea typeface="DM Sans Medium" pitchFamily="34" charset="-122"/>
                <a:cs typeface="DM Sans Medium" pitchFamily="34" charset="-120"/>
              </a:rPr>
              <a:t>DCC Automation</a:t>
            </a:r>
            <a:endParaRPr lang="en-US" sz="4450" b="1" dirty="0"/>
          </a:p>
        </p:txBody>
      </p:sp>
      <p:sp>
        <p:nvSpPr>
          <p:cNvPr id="4" name="Text 1"/>
          <p:cNvSpPr/>
          <p:nvPr/>
        </p:nvSpPr>
        <p:spPr>
          <a:xfrm>
            <a:off x="793790" y="4457819"/>
            <a:ext cx="7556421" cy="362903"/>
          </a:xfrm>
          <a:prstGeom prst="rect">
            <a:avLst/>
          </a:prstGeom>
          <a:noFill/>
          <a:ln/>
        </p:spPr>
        <p:txBody>
          <a:bodyPr wrap="none" lIns="0" tIns="0" rIns="0" bIns="0" rtlCol="0" anchor="t"/>
          <a:lstStyle/>
          <a:p>
            <a:pPr marL="0" indent="0" algn="l">
              <a:lnSpc>
                <a:spcPts val="2850"/>
              </a:lnSpc>
              <a:buNone/>
            </a:pPr>
            <a:r>
              <a:rPr lang="en-US" sz="2000" b="1" dirty="0">
                <a:solidFill>
                  <a:srgbClr val="161613"/>
                </a:solidFill>
                <a:latin typeface="Inter" pitchFamily="34" charset="0"/>
                <a:ea typeface="Inter" pitchFamily="34" charset="-122"/>
                <a:cs typeface="Inter" pitchFamily="34" charset="-120"/>
              </a:rPr>
              <a:t>Intelligent Invoice Processing with Azure AI and SAP Integration</a:t>
            </a:r>
            <a:endParaRPr lang="en-US" sz="2000" b="1" dirty="0"/>
          </a:p>
        </p:txBody>
      </p:sp>
      <p:sp>
        <p:nvSpPr>
          <p:cNvPr id="5" name="Text 1">
            <a:extLst>
              <a:ext uri="{FF2B5EF4-FFF2-40B4-BE49-F238E27FC236}">
                <a16:creationId xmlns:a16="http://schemas.microsoft.com/office/drawing/2014/main" id="{73E5063A-BDB2-9D77-FD84-2A9231129439}"/>
              </a:ext>
            </a:extLst>
          </p:cNvPr>
          <p:cNvSpPr/>
          <p:nvPr/>
        </p:nvSpPr>
        <p:spPr>
          <a:xfrm>
            <a:off x="793789" y="5160884"/>
            <a:ext cx="7556421" cy="362903"/>
          </a:xfrm>
          <a:prstGeom prst="rect">
            <a:avLst/>
          </a:prstGeom>
          <a:noFill/>
          <a:ln/>
        </p:spPr>
        <p:txBody>
          <a:bodyPr wrap="none" lIns="0" tIns="0" rIns="0" bIns="0" rtlCol="0" anchor="t"/>
          <a:lstStyle/>
          <a:p>
            <a:pPr marL="0" indent="0" algn="l">
              <a:lnSpc>
                <a:spcPts val="2850"/>
              </a:lnSpc>
              <a:buNone/>
            </a:pPr>
            <a:r>
              <a:rPr lang="en-US" sz="1750" dirty="0"/>
              <a:t>Suresh Prajapati - VCERP</a:t>
            </a:r>
          </a:p>
        </p:txBody>
      </p:sp>
      <p:pic>
        <p:nvPicPr>
          <p:cNvPr id="1026" name="Picture 2">
            <a:extLst>
              <a:ext uri="{FF2B5EF4-FFF2-40B4-BE49-F238E27FC236}">
                <a16:creationId xmlns:a16="http://schemas.microsoft.com/office/drawing/2014/main" id="{BC05E270-8757-D1A9-1A7B-B04E05BEA4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94366" y="3430602"/>
            <a:ext cx="1170328" cy="579678"/>
          </a:xfrm>
          <a:prstGeom prst="rect">
            <a:avLst/>
          </a:prstGeom>
          <a:noFill/>
          <a:extLst>
            <a:ext uri="{909E8E84-426E-40DD-AFC4-6F175D3DCCD1}">
              <a14:hiddenFill xmlns:a14="http://schemas.microsoft.com/office/drawing/2010/main">
                <a:solidFill>
                  <a:srgbClr val="FFFFFF"/>
                </a:solidFill>
              </a14:hiddenFill>
            </a:ext>
          </a:extLst>
        </p:spPr>
      </p:pic>
      <p:sp>
        <p:nvSpPr>
          <p:cNvPr id="6" name="Text 0">
            <a:extLst>
              <a:ext uri="{FF2B5EF4-FFF2-40B4-BE49-F238E27FC236}">
                <a16:creationId xmlns:a16="http://schemas.microsoft.com/office/drawing/2014/main" id="{62387634-83EC-8C43-87EF-F621B86CB3C9}"/>
              </a:ext>
            </a:extLst>
          </p:cNvPr>
          <p:cNvSpPr/>
          <p:nvPr/>
        </p:nvSpPr>
        <p:spPr>
          <a:xfrm>
            <a:off x="13110384" y="4225948"/>
            <a:ext cx="1281478" cy="579678"/>
          </a:xfrm>
          <a:prstGeom prst="rect">
            <a:avLst/>
          </a:prstGeom>
          <a:noFill/>
          <a:ln/>
        </p:spPr>
        <p:txBody>
          <a:bodyPr wrap="none" lIns="0" tIns="0" rIns="0" bIns="0" rtlCol="0" anchor="t"/>
          <a:lstStyle/>
          <a:p>
            <a:pPr marL="0" indent="0" algn="l">
              <a:lnSpc>
                <a:spcPts val="5550"/>
              </a:lnSpc>
              <a:buNone/>
            </a:pPr>
            <a:r>
              <a:rPr lang="en-US" sz="3600" b="1" dirty="0">
                <a:solidFill>
                  <a:srgbClr val="002060"/>
                </a:solidFill>
                <a:latin typeface="DM Sans Medium" pitchFamily="34" charset="0"/>
              </a:rPr>
              <a:t>AI</a:t>
            </a:r>
            <a:endParaRPr lang="en-US" sz="3600" b="1" dirty="0">
              <a:solidFill>
                <a:srgbClr val="00206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080855"/>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161613"/>
                </a:solidFill>
                <a:latin typeface="DM Sans Medium" pitchFamily="34" charset="0"/>
                <a:ea typeface="DM Sans Medium" pitchFamily="34" charset="-122"/>
                <a:cs typeface="DM Sans Medium" pitchFamily="34" charset="-120"/>
              </a:rPr>
              <a:t>Project Overview</a:t>
            </a:r>
            <a:endParaRPr lang="en-US" sz="4450" dirty="0"/>
          </a:p>
        </p:txBody>
      </p:sp>
      <p:sp>
        <p:nvSpPr>
          <p:cNvPr id="3" name="Text 1"/>
          <p:cNvSpPr/>
          <p:nvPr/>
        </p:nvSpPr>
        <p:spPr>
          <a:xfrm>
            <a:off x="793790" y="3333869"/>
            <a:ext cx="8284131" cy="2177415"/>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DCC Automation streamlines invoice processing by combining Azure Document Intelligence for OCR extraction, Azure OpenAI for intelligent data interpretation, and OData API integration with SAP systems. The solution processes invoices through two distinct channels—manual upload via Fiori platform and automated email processing—ensuring flexibility and comprehensive coverage for enterprise invoice management.</a:t>
            </a:r>
            <a:endParaRPr lang="en-US" sz="1750" dirty="0"/>
          </a:p>
        </p:txBody>
      </p:sp>
      <p:sp>
        <p:nvSpPr>
          <p:cNvPr id="4" name="Text 2"/>
          <p:cNvSpPr/>
          <p:nvPr/>
        </p:nvSpPr>
        <p:spPr>
          <a:xfrm>
            <a:off x="9638943" y="335661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Key Technologies</a:t>
            </a:r>
            <a:endParaRPr lang="en-US" sz="2200" dirty="0"/>
          </a:p>
        </p:txBody>
      </p:sp>
      <p:sp>
        <p:nvSpPr>
          <p:cNvPr id="5" name="Text 3"/>
          <p:cNvSpPr/>
          <p:nvPr/>
        </p:nvSpPr>
        <p:spPr>
          <a:xfrm>
            <a:off x="9638943" y="3937754"/>
            <a:ext cx="4205168" cy="213169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161613"/>
                </a:solidFill>
                <a:latin typeface="Inter" pitchFamily="34" charset="0"/>
                <a:ea typeface="Inter" pitchFamily="34" charset="-122"/>
                <a:cs typeface="Inter" pitchFamily="34" charset="-120"/>
              </a:rPr>
              <a:t>Azure Document Intelligence</a:t>
            </a:r>
            <a:endParaRPr lang="en-US" sz="1750" dirty="0"/>
          </a:p>
          <a:p>
            <a:pPr marL="342900" indent="-342900" algn="l">
              <a:lnSpc>
                <a:spcPts val="2850"/>
              </a:lnSpc>
              <a:buSzPct val="100000"/>
              <a:buChar char="•"/>
            </a:pPr>
            <a:r>
              <a:rPr lang="en-US" sz="1750" dirty="0">
                <a:solidFill>
                  <a:srgbClr val="161613"/>
                </a:solidFill>
                <a:latin typeface="Inter" pitchFamily="34" charset="0"/>
                <a:ea typeface="Inter" pitchFamily="34" charset="-122"/>
                <a:cs typeface="Inter" pitchFamily="34" charset="-120"/>
              </a:rPr>
              <a:t>Azure OpenAI</a:t>
            </a:r>
            <a:endParaRPr lang="en-US" sz="1750" dirty="0"/>
          </a:p>
          <a:p>
            <a:pPr marL="342900" indent="-342900" algn="l">
              <a:lnSpc>
                <a:spcPts val="2850"/>
              </a:lnSpc>
              <a:buSzPct val="100000"/>
              <a:buChar char="•"/>
            </a:pPr>
            <a:r>
              <a:rPr lang="en-US" sz="1750" dirty="0">
                <a:solidFill>
                  <a:srgbClr val="161613"/>
                </a:solidFill>
                <a:latin typeface="Inter" pitchFamily="34" charset="0"/>
                <a:ea typeface="Inter" pitchFamily="34" charset="-122"/>
                <a:cs typeface="Inter" pitchFamily="34" charset="-120"/>
              </a:rPr>
              <a:t>SAP OData API</a:t>
            </a:r>
            <a:endParaRPr lang="en-US" sz="1750" dirty="0"/>
          </a:p>
          <a:p>
            <a:pPr marL="342900" indent="-342900" algn="l">
              <a:lnSpc>
                <a:spcPts val="2850"/>
              </a:lnSpc>
              <a:buSzPct val="100000"/>
              <a:buChar char="•"/>
            </a:pPr>
            <a:r>
              <a:rPr lang="en-US" sz="1750" dirty="0">
                <a:solidFill>
                  <a:srgbClr val="161613"/>
                </a:solidFill>
                <a:latin typeface="Inter" pitchFamily="34" charset="0"/>
                <a:ea typeface="Inter" pitchFamily="34" charset="-122"/>
                <a:cs typeface="Inter" pitchFamily="34" charset="-120"/>
              </a:rPr>
              <a:t>Python 3.13.7</a:t>
            </a:r>
            <a:endParaRPr lang="en-US" sz="1750" dirty="0"/>
          </a:p>
          <a:p>
            <a:pPr marL="342900" indent="-342900" algn="l">
              <a:lnSpc>
                <a:spcPts val="2850"/>
              </a:lnSpc>
              <a:buSzPct val="100000"/>
              <a:buChar char="•"/>
            </a:pPr>
            <a:r>
              <a:rPr lang="en-US" sz="1750" dirty="0">
                <a:solidFill>
                  <a:srgbClr val="161613"/>
                </a:solidFill>
                <a:latin typeface="Inter" pitchFamily="34" charset="0"/>
                <a:ea typeface="Inter" pitchFamily="34" charset="-122"/>
                <a:cs typeface="Inter" pitchFamily="34" charset="-120"/>
              </a:rPr>
              <a:t>Flask API</a:t>
            </a:r>
            <a:endParaRPr lang="en-US" sz="1750" dirty="0"/>
          </a:p>
        </p:txBody>
      </p:sp>
      <p:sp>
        <p:nvSpPr>
          <p:cNvPr id="6" name="Rectangle 5">
            <a:extLst>
              <a:ext uri="{FF2B5EF4-FFF2-40B4-BE49-F238E27FC236}">
                <a16:creationId xmlns:a16="http://schemas.microsoft.com/office/drawing/2014/main" id="{52D6A212-948D-FDCB-A964-7251CA5EDFAC}"/>
              </a:ext>
            </a:extLst>
          </p:cNvPr>
          <p:cNvSpPr/>
          <p:nvPr/>
        </p:nvSpPr>
        <p:spPr>
          <a:xfrm>
            <a:off x="12748590" y="7686260"/>
            <a:ext cx="1881809" cy="543339"/>
          </a:xfrm>
          <a:prstGeom prst="rect">
            <a:avLst/>
          </a:prstGeom>
          <a:solidFill>
            <a:srgbClr val="F9F8F5"/>
          </a:solidFill>
          <a:ln>
            <a:solidFill>
              <a:srgbClr val="F9F8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nvSpPr>
        <p:spPr>
          <a:xfrm>
            <a:off x="677703" y="276509"/>
            <a:ext cx="6637496" cy="691515"/>
          </a:xfrm>
          <a:prstGeom prst="rect">
            <a:avLst/>
          </a:prstGeom>
          <a:noFill/>
          <a:ln/>
        </p:spPr>
        <p:txBody>
          <a:bodyPr wrap="none" lIns="0" tIns="0" rIns="0" bIns="0" rtlCol="0" anchor="t"/>
          <a:lstStyle/>
          <a:p>
            <a:pPr marL="0" indent="0" algn="l">
              <a:lnSpc>
                <a:spcPts val="5400"/>
              </a:lnSpc>
              <a:buNone/>
            </a:pPr>
            <a:r>
              <a:rPr lang="en-US" sz="4350" dirty="0">
                <a:solidFill>
                  <a:srgbClr val="161613"/>
                </a:solidFill>
                <a:latin typeface="DM Sans Medium" pitchFamily="34" charset="0"/>
                <a:ea typeface="DM Sans Medium" pitchFamily="34" charset="-122"/>
                <a:cs typeface="DM Sans Medium" pitchFamily="34" charset="-120"/>
              </a:rPr>
              <a:t>Two Processing Pathways</a:t>
            </a:r>
            <a:endParaRPr lang="en-US" sz="4350" dirty="0"/>
          </a:p>
        </p:txBody>
      </p:sp>
      <p:pic>
        <p:nvPicPr>
          <p:cNvPr id="4" name="Image 1" descr="preencoded.png"/>
          <p:cNvPicPr>
            <a:picLocks noChangeAspect="1"/>
          </p:cNvPicPr>
          <p:nvPr/>
        </p:nvPicPr>
        <p:blipFill>
          <a:blip r:embed="rId3"/>
          <a:stretch>
            <a:fillRect/>
          </a:stretch>
        </p:blipFill>
        <p:spPr>
          <a:xfrm>
            <a:off x="717459" y="1271933"/>
            <a:ext cx="13303339" cy="885111"/>
          </a:xfrm>
          <a:prstGeom prst="rect">
            <a:avLst/>
          </a:prstGeom>
        </p:spPr>
      </p:pic>
      <p:sp>
        <p:nvSpPr>
          <p:cNvPr id="5" name="Text 1"/>
          <p:cNvSpPr/>
          <p:nvPr/>
        </p:nvSpPr>
        <p:spPr>
          <a:xfrm>
            <a:off x="898922" y="2456236"/>
            <a:ext cx="2766179" cy="345638"/>
          </a:xfrm>
          <a:prstGeom prst="rect">
            <a:avLst/>
          </a:prstGeom>
          <a:noFill/>
          <a:ln/>
        </p:spPr>
        <p:txBody>
          <a:bodyPr wrap="none" lIns="0" tIns="0" rIns="0" bIns="0" rtlCol="0" anchor="t"/>
          <a:lstStyle/>
          <a:p>
            <a:pPr marL="0" indent="0" algn="l">
              <a:lnSpc>
                <a:spcPts val="2700"/>
              </a:lnSpc>
              <a:buNone/>
            </a:pPr>
            <a:r>
              <a:rPr lang="en-US" sz="2150" dirty="0">
                <a:solidFill>
                  <a:srgbClr val="161613"/>
                </a:solidFill>
                <a:latin typeface="DM Sans Medium" pitchFamily="34" charset="0"/>
                <a:ea typeface="DM Sans Medium" pitchFamily="34" charset="-122"/>
                <a:cs typeface="DM Sans Medium" pitchFamily="34" charset="-120"/>
              </a:rPr>
              <a:t>Manual Upload</a:t>
            </a:r>
            <a:endParaRPr lang="en-US" sz="2150" dirty="0"/>
          </a:p>
        </p:txBody>
      </p:sp>
      <p:sp>
        <p:nvSpPr>
          <p:cNvPr id="6" name="Text 2"/>
          <p:cNvSpPr/>
          <p:nvPr/>
        </p:nvSpPr>
        <p:spPr>
          <a:xfrm>
            <a:off x="898922" y="2931296"/>
            <a:ext cx="12949600" cy="1399222"/>
          </a:xfrm>
          <a:prstGeom prst="rect">
            <a:avLst/>
          </a:prstGeom>
          <a:noFill/>
          <a:ln/>
        </p:spPr>
        <p:txBody>
          <a:bodyPr wrap="square" lIns="0" tIns="0" rIns="0" bIns="0" rtlCol="0" anchor="t"/>
          <a:lstStyle/>
          <a:p>
            <a:pPr marL="0" indent="0" algn="l">
              <a:lnSpc>
                <a:spcPts val="2750"/>
              </a:lnSpc>
              <a:buNone/>
            </a:pPr>
            <a:r>
              <a:rPr lang="en-US" sz="1700" dirty="0">
                <a:solidFill>
                  <a:srgbClr val="161613"/>
                </a:solidFill>
                <a:latin typeface="Inter" pitchFamily="34" charset="0"/>
                <a:ea typeface="Inter" pitchFamily="34" charset="-122"/>
                <a:cs typeface="Inter" pitchFamily="34" charset="-120"/>
              </a:rPr>
              <a:t>Users upload invoices directly through the Fiori platform interface. The Flask API processes each document sequentially using Azure Document Intelligence for OCR and OpenAI for data extraction.</a:t>
            </a:r>
            <a:endParaRPr lang="en-US" sz="1700" dirty="0"/>
          </a:p>
        </p:txBody>
      </p:sp>
      <p:pic>
        <p:nvPicPr>
          <p:cNvPr id="7" name="Image 2" descr="preencoded.png"/>
          <p:cNvPicPr>
            <a:picLocks noChangeAspect="1"/>
          </p:cNvPicPr>
          <p:nvPr/>
        </p:nvPicPr>
        <p:blipFill>
          <a:blip r:embed="rId4"/>
          <a:stretch>
            <a:fillRect/>
          </a:stretch>
        </p:blipFill>
        <p:spPr>
          <a:xfrm>
            <a:off x="898922" y="4091899"/>
            <a:ext cx="13121876" cy="885111"/>
          </a:xfrm>
          <a:prstGeom prst="rect">
            <a:avLst/>
          </a:prstGeom>
        </p:spPr>
      </p:pic>
      <p:sp>
        <p:nvSpPr>
          <p:cNvPr id="8" name="Text 3"/>
          <p:cNvSpPr/>
          <p:nvPr/>
        </p:nvSpPr>
        <p:spPr>
          <a:xfrm>
            <a:off x="921357" y="5533258"/>
            <a:ext cx="2766179" cy="345638"/>
          </a:xfrm>
          <a:prstGeom prst="rect">
            <a:avLst/>
          </a:prstGeom>
          <a:noFill/>
          <a:ln/>
        </p:spPr>
        <p:txBody>
          <a:bodyPr wrap="none" lIns="0" tIns="0" rIns="0" bIns="0" rtlCol="0" anchor="t"/>
          <a:lstStyle/>
          <a:p>
            <a:pPr marL="0" indent="0" algn="l">
              <a:lnSpc>
                <a:spcPts val="2700"/>
              </a:lnSpc>
              <a:buNone/>
            </a:pPr>
            <a:r>
              <a:rPr lang="en-US" sz="2150" dirty="0">
                <a:solidFill>
                  <a:srgbClr val="161613"/>
                </a:solidFill>
                <a:latin typeface="DM Sans Medium" pitchFamily="34" charset="0"/>
                <a:ea typeface="DM Sans Medium" pitchFamily="34" charset="-122"/>
                <a:cs typeface="DM Sans Medium" pitchFamily="34" charset="-120"/>
              </a:rPr>
              <a:t>Email Automation</a:t>
            </a:r>
            <a:endParaRPr lang="en-US" sz="2150" dirty="0"/>
          </a:p>
        </p:txBody>
      </p:sp>
      <p:sp>
        <p:nvSpPr>
          <p:cNvPr id="9" name="Text 4"/>
          <p:cNvSpPr/>
          <p:nvPr/>
        </p:nvSpPr>
        <p:spPr>
          <a:xfrm>
            <a:off x="921356" y="6008318"/>
            <a:ext cx="12927165" cy="1399222"/>
          </a:xfrm>
          <a:prstGeom prst="rect">
            <a:avLst/>
          </a:prstGeom>
          <a:noFill/>
          <a:ln/>
        </p:spPr>
        <p:txBody>
          <a:bodyPr wrap="square" lIns="0" tIns="0" rIns="0" bIns="0" rtlCol="0" anchor="t"/>
          <a:lstStyle/>
          <a:p>
            <a:pPr marL="0" indent="0" algn="l">
              <a:lnSpc>
                <a:spcPts val="2750"/>
              </a:lnSpc>
              <a:buNone/>
            </a:pPr>
            <a:r>
              <a:rPr lang="en-US" sz="1700" dirty="0">
                <a:solidFill>
                  <a:srgbClr val="161613"/>
                </a:solidFill>
                <a:latin typeface="Inter" pitchFamily="34" charset="0"/>
                <a:ea typeface="Inter" pitchFamily="34" charset="-122"/>
                <a:cs typeface="Inter" pitchFamily="34" charset="-120"/>
              </a:rPr>
              <a:t>Automatically reads emails from Azure Cloud, extracts invoice attachments, and processes them individually. Includes digital signature verification and QR code data extraction for enhanced accuracy.</a:t>
            </a:r>
            <a:endParaRPr lang="en-US" sz="1700" dirty="0"/>
          </a:p>
        </p:txBody>
      </p:sp>
      <p:sp>
        <p:nvSpPr>
          <p:cNvPr id="10" name="Rectangle 9">
            <a:extLst>
              <a:ext uri="{FF2B5EF4-FFF2-40B4-BE49-F238E27FC236}">
                <a16:creationId xmlns:a16="http://schemas.microsoft.com/office/drawing/2014/main" id="{26989D22-F6AB-EDAD-FFCD-7C5C792F759A}"/>
              </a:ext>
            </a:extLst>
          </p:cNvPr>
          <p:cNvSpPr/>
          <p:nvPr/>
        </p:nvSpPr>
        <p:spPr>
          <a:xfrm>
            <a:off x="12748590" y="7686260"/>
            <a:ext cx="1881809" cy="543339"/>
          </a:xfrm>
          <a:prstGeom prst="rect">
            <a:avLst/>
          </a:prstGeom>
          <a:solidFill>
            <a:srgbClr val="F9F8F5"/>
          </a:solidFill>
          <a:ln>
            <a:solidFill>
              <a:srgbClr val="F9F8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95112" y="527447"/>
            <a:ext cx="5278398" cy="581382"/>
          </a:xfrm>
          <a:prstGeom prst="rect">
            <a:avLst/>
          </a:prstGeom>
          <a:noFill/>
          <a:ln/>
        </p:spPr>
        <p:txBody>
          <a:bodyPr wrap="none" lIns="0" tIns="0" rIns="0" bIns="0" rtlCol="0" anchor="t"/>
          <a:lstStyle/>
          <a:p>
            <a:pPr marL="0" indent="0" algn="l">
              <a:lnSpc>
                <a:spcPts val="4550"/>
              </a:lnSpc>
              <a:buNone/>
            </a:pPr>
            <a:r>
              <a:rPr lang="en-US" sz="3650" dirty="0">
                <a:solidFill>
                  <a:srgbClr val="161613"/>
                </a:solidFill>
                <a:latin typeface="DM Sans Medium" pitchFamily="34" charset="0"/>
                <a:ea typeface="DM Sans Medium" pitchFamily="34" charset="-122"/>
                <a:cs typeface="DM Sans Medium" pitchFamily="34" charset="-120"/>
              </a:rPr>
              <a:t>Processing Architecture</a:t>
            </a:r>
            <a:endParaRPr lang="en-US" sz="3650" dirty="0"/>
          </a:p>
        </p:txBody>
      </p:sp>
      <p:pic>
        <p:nvPicPr>
          <p:cNvPr id="3" name="Image 0" descr="preencoded.png"/>
          <p:cNvPicPr>
            <a:picLocks noChangeAspect="1"/>
          </p:cNvPicPr>
          <p:nvPr/>
        </p:nvPicPr>
        <p:blipFill>
          <a:blip r:embed="rId3"/>
          <a:stretch>
            <a:fillRect/>
          </a:stretch>
        </p:blipFill>
        <p:spPr>
          <a:xfrm>
            <a:off x="2322552" y="1414105"/>
            <a:ext cx="9985177" cy="4569857"/>
          </a:xfrm>
          <a:prstGeom prst="rect">
            <a:avLst/>
          </a:prstGeom>
        </p:spPr>
      </p:pic>
      <p:pic>
        <p:nvPicPr>
          <p:cNvPr id="4"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40209" y="2555076"/>
            <a:ext cx="641996" cy="641997"/>
          </a:xfrm>
          <a:prstGeom prst="rect">
            <a:avLst/>
          </a:prstGeom>
        </p:spPr>
      </p:pic>
      <p:sp>
        <p:nvSpPr>
          <p:cNvPr id="5" name="Text 1"/>
          <p:cNvSpPr/>
          <p:nvPr/>
        </p:nvSpPr>
        <p:spPr>
          <a:xfrm>
            <a:off x="9968230" y="4898765"/>
            <a:ext cx="1874630" cy="361123"/>
          </a:xfrm>
          <a:prstGeom prst="rect">
            <a:avLst/>
          </a:prstGeom>
          <a:noFill/>
          <a:ln/>
        </p:spPr>
        <p:txBody>
          <a:bodyPr wrap="none" lIns="0" tIns="0" rIns="0" bIns="0" rtlCol="0" anchor="t"/>
          <a:lstStyle/>
          <a:p>
            <a:pPr marL="0" indent="0" algn="ctr">
              <a:lnSpc>
                <a:spcPts val="2800"/>
              </a:lnSpc>
              <a:buNone/>
            </a:pPr>
            <a:r>
              <a:rPr lang="en-US" sz="2250" dirty="0">
                <a:solidFill>
                  <a:srgbClr val="161613"/>
                </a:solidFill>
                <a:latin typeface="DM Sans Medium" pitchFamily="34" charset="0"/>
                <a:ea typeface="DM Sans Medium" pitchFamily="34" charset="-122"/>
                <a:cs typeface="DM Sans Medium" pitchFamily="34" charset="-120"/>
              </a:rPr>
              <a:t>SAP OData</a:t>
            </a:r>
            <a:endParaRPr lang="en-US" sz="2250" dirty="0"/>
          </a:p>
        </p:txBody>
      </p:sp>
      <p:pic>
        <p:nvPicPr>
          <p:cNvPr id="6"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189899" y="2556280"/>
            <a:ext cx="641997" cy="641997"/>
          </a:xfrm>
          <a:prstGeom prst="rect">
            <a:avLst/>
          </a:prstGeom>
        </p:spPr>
      </p:pic>
      <p:sp>
        <p:nvSpPr>
          <p:cNvPr id="7" name="Text 2"/>
          <p:cNvSpPr/>
          <p:nvPr/>
        </p:nvSpPr>
        <p:spPr>
          <a:xfrm>
            <a:off x="7605683" y="4718203"/>
            <a:ext cx="1874630" cy="722246"/>
          </a:xfrm>
          <a:prstGeom prst="rect">
            <a:avLst/>
          </a:prstGeom>
          <a:noFill/>
          <a:ln/>
        </p:spPr>
        <p:txBody>
          <a:bodyPr wrap="square" lIns="0" tIns="0" rIns="0" bIns="0" rtlCol="0" anchor="t"/>
          <a:lstStyle/>
          <a:p>
            <a:pPr marL="0" indent="0" algn="ctr">
              <a:lnSpc>
                <a:spcPts val="2800"/>
              </a:lnSpc>
              <a:buNone/>
            </a:pPr>
            <a:r>
              <a:rPr lang="en-US" sz="2250" dirty="0">
                <a:solidFill>
                  <a:srgbClr val="161613"/>
                </a:solidFill>
                <a:latin typeface="DM Sans Medium" pitchFamily="34" charset="0"/>
                <a:ea typeface="DM Sans Medium" pitchFamily="34" charset="-122"/>
                <a:cs typeface="DM Sans Medium" pitchFamily="34" charset="-120"/>
              </a:rPr>
              <a:t>OpenAI Extract</a:t>
            </a:r>
            <a:endParaRPr lang="en-US" sz="2250" dirty="0"/>
          </a:p>
        </p:txBody>
      </p:sp>
      <p:pic>
        <p:nvPicPr>
          <p:cNvPr id="8"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840192" y="2556280"/>
            <a:ext cx="641997" cy="641997"/>
          </a:xfrm>
          <a:prstGeom prst="rect">
            <a:avLst/>
          </a:prstGeom>
        </p:spPr>
      </p:pic>
      <p:sp>
        <p:nvSpPr>
          <p:cNvPr id="9" name="Text 3"/>
          <p:cNvSpPr/>
          <p:nvPr/>
        </p:nvSpPr>
        <p:spPr>
          <a:xfrm>
            <a:off x="5255975" y="4898765"/>
            <a:ext cx="1874630" cy="361123"/>
          </a:xfrm>
          <a:prstGeom prst="rect">
            <a:avLst/>
          </a:prstGeom>
          <a:noFill/>
          <a:ln/>
        </p:spPr>
        <p:txBody>
          <a:bodyPr wrap="none" lIns="0" tIns="0" rIns="0" bIns="0" rtlCol="0" anchor="t"/>
          <a:lstStyle/>
          <a:p>
            <a:pPr marL="0" indent="0" algn="ctr">
              <a:lnSpc>
                <a:spcPts val="2800"/>
              </a:lnSpc>
              <a:buNone/>
            </a:pPr>
            <a:r>
              <a:rPr lang="en-US" sz="2250" dirty="0">
                <a:solidFill>
                  <a:srgbClr val="161613"/>
                </a:solidFill>
                <a:latin typeface="DM Sans Medium" pitchFamily="34" charset="0"/>
                <a:ea typeface="DM Sans Medium" pitchFamily="34" charset="-122"/>
                <a:cs typeface="DM Sans Medium" pitchFamily="34" charset="-120"/>
              </a:rPr>
              <a:t>Azure OCR</a:t>
            </a:r>
            <a:endParaRPr lang="en-US" sz="2250" dirty="0"/>
          </a:p>
        </p:txBody>
      </p:sp>
      <p:pic>
        <p:nvPicPr>
          <p:cNvPr id="10" name="Image 4"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477644" y="2556280"/>
            <a:ext cx="641997" cy="641997"/>
          </a:xfrm>
          <a:prstGeom prst="rect">
            <a:avLst/>
          </a:prstGeom>
        </p:spPr>
      </p:pic>
      <p:sp>
        <p:nvSpPr>
          <p:cNvPr id="11" name="Text 4"/>
          <p:cNvSpPr/>
          <p:nvPr/>
        </p:nvSpPr>
        <p:spPr>
          <a:xfrm>
            <a:off x="2854908" y="4898765"/>
            <a:ext cx="1874630" cy="361123"/>
          </a:xfrm>
          <a:prstGeom prst="rect">
            <a:avLst/>
          </a:prstGeom>
          <a:noFill/>
          <a:ln/>
        </p:spPr>
        <p:txBody>
          <a:bodyPr wrap="none" lIns="0" tIns="0" rIns="0" bIns="0" rtlCol="0" anchor="t"/>
          <a:lstStyle/>
          <a:p>
            <a:pPr marL="0" indent="0" algn="ctr">
              <a:lnSpc>
                <a:spcPts val="2800"/>
              </a:lnSpc>
              <a:buNone/>
            </a:pPr>
            <a:r>
              <a:rPr lang="en-US" sz="2250" dirty="0">
                <a:solidFill>
                  <a:srgbClr val="161613"/>
                </a:solidFill>
                <a:latin typeface="DM Sans Medium" pitchFamily="34" charset="0"/>
                <a:ea typeface="DM Sans Medium" pitchFamily="34" charset="-122"/>
                <a:cs typeface="DM Sans Medium" pitchFamily="34" charset="-120"/>
              </a:rPr>
              <a:t>Upload</a:t>
            </a:r>
            <a:endParaRPr lang="en-US" sz="2250" dirty="0"/>
          </a:p>
        </p:txBody>
      </p:sp>
      <p:sp>
        <p:nvSpPr>
          <p:cNvPr id="12" name="Text 5"/>
          <p:cNvSpPr/>
          <p:nvPr/>
        </p:nvSpPr>
        <p:spPr>
          <a:xfrm>
            <a:off x="895112" y="6308288"/>
            <a:ext cx="2326124" cy="290751"/>
          </a:xfrm>
          <a:prstGeom prst="rect">
            <a:avLst/>
          </a:prstGeom>
          <a:noFill/>
          <a:ln/>
        </p:spPr>
        <p:txBody>
          <a:bodyPr wrap="none" lIns="0" tIns="0" rIns="0" bIns="0" rtlCol="0" anchor="t"/>
          <a:lstStyle/>
          <a:p>
            <a:pPr marL="0" indent="0" algn="l">
              <a:lnSpc>
                <a:spcPts val="2250"/>
              </a:lnSpc>
              <a:buNone/>
            </a:pPr>
            <a:r>
              <a:rPr lang="en-US" sz="1800" dirty="0">
                <a:solidFill>
                  <a:srgbClr val="161613"/>
                </a:solidFill>
                <a:latin typeface="DM Sans Medium" pitchFamily="34" charset="0"/>
                <a:ea typeface="DM Sans Medium" pitchFamily="34" charset="-122"/>
                <a:cs typeface="DM Sans Medium" pitchFamily="34" charset="-120"/>
              </a:rPr>
              <a:t>OCR &amp; Extraction</a:t>
            </a:r>
            <a:endParaRPr lang="en-US" sz="1800" dirty="0"/>
          </a:p>
        </p:txBody>
      </p:sp>
      <p:sp>
        <p:nvSpPr>
          <p:cNvPr id="13" name="Text 6"/>
          <p:cNvSpPr/>
          <p:nvPr/>
        </p:nvSpPr>
        <p:spPr>
          <a:xfrm>
            <a:off x="895112" y="6751677"/>
            <a:ext cx="6193155" cy="812959"/>
          </a:xfrm>
          <a:prstGeom prst="rect">
            <a:avLst/>
          </a:prstGeom>
          <a:noFill/>
          <a:ln/>
        </p:spPr>
        <p:txBody>
          <a:bodyPr wrap="square" lIns="0" tIns="0" rIns="0" bIns="0" rtlCol="0" anchor="t"/>
          <a:lstStyle/>
          <a:p>
            <a:pPr marL="0" indent="0" algn="l">
              <a:lnSpc>
                <a:spcPts val="2100"/>
              </a:lnSpc>
              <a:buNone/>
            </a:pPr>
            <a:r>
              <a:rPr lang="en-US" sz="1450" dirty="0">
                <a:solidFill>
                  <a:srgbClr val="161613"/>
                </a:solidFill>
                <a:latin typeface="Inter" pitchFamily="34" charset="0"/>
                <a:ea typeface="Inter" pitchFamily="34" charset="-122"/>
                <a:cs typeface="Inter" pitchFamily="34" charset="-120"/>
              </a:rPr>
              <a:t>Azure Document Intelligence performs optical character recognition on invoice documents, extracting raw text and structured data elements including line items, totals, and vendor information.</a:t>
            </a:r>
            <a:endParaRPr lang="en-US" sz="1450" dirty="0"/>
          </a:p>
        </p:txBody>
      </p:sp>
      <p:sp>
        <p:nvSpPr>
          <p:cNvPr id="14" name="Text 7"/>
          <p:cNvSpPr/>
          <p:nvPr/>
        </p:nvSpPr>
        <p:spPr>
          <a:xfrm>
            <a:off x="7549753" y="6308288"/>
            <a:ext cx="2337197" cy="290751"/>
          </a:xfrm>
          <a:prstGeom prst="rect">
            <a:avLst/>
          </a:prstGeom>
          <a:noFill/>
          <a:ln/>
        </p:spPr>
        <p:txBody>
          <a:bodyPr wrap="none" lIns="0" tIns="0" rIns="0" bIns="0" rtlCol="0" anchor="t"/>
          <a:lstStyle/>
          <a:p>
            <a:pPr marL="0" indent="0" algn="l">
              <a:lnSpc>
                <a:spcPts val="2250"/>
              </a:lnSpc>
              <a:buNone/>
            </a:pPr>
            <a:r>
              <a:rPr lang="en-US" sz="1800" dirty="0">
                <a:solidFill>
                  <a:srgbClr val="161613"/>
                </a:solidFill>
                <a:latin typeface="DM Sans Medium" pitchFamily="34" charset="0"/>
                <a:ea typeface="DM Sans Medium" pitchFamily="34" charset="-122"/>
                <a:cs typeface="DM Sans Medium" pitchFamily="34" charset="-120"/>
              </a:rPr>
              <a:t>Intelligent Processing</a:t>
            </a:r>
            <a:endParaRPr lang="en-US" sz="1800" dirty="0"/>
          </a:p>
        </p:txBody>
      </p:sp>
      <p:sp>
        <p:nvSpPr>
          <p:cNvPr id="15" name="Text 8"/>
          <p:cNvSpPr/>
          <p:nvPr/>
        </p:nvSpPr>
        <p:spPr>
          <a:xfrm>
            <a:off x="7549753" y="6751677"/>
            <a:ext cx="6193155" cy="812959"/>
          </a:xfrm>
          <a:prstGeom prst="rect">
            <a:avLst/>
          </a:prstGeom>
          <a:noFill/>
          <a:ln/>
        </p:spPr>
        <p:txBody>
          <a:bodyPr wrap="square" lIns="0" tIns="0" rIns="0" bIns="0" rtlCol="0" anchor="t"/>
          <a:lstStyle/>
          <a:p>
            <a:pPr marL="0" indent="0" algn="l">
              <a:lnSpc>
                <a:spcPts val="2100"/>
              </a:lnSpc>
              <a:buNone/>
            </a:pPr>
            <a:r>
              <a:rPr lang="en-US" sz="1450" dirty="0">
                <a:solidFill>
                  <a:srgbClr val="161613"/>
                </a:solidFill>
                <a:latin typeface="Inter" pitchFamily="34" charset="0"/>
                <a:ea typeface="Inter" pitchFamily="34" charset="-122"/>
                <a:cs typeface="Inter" pitchFamily="34" charset="-120"/>
              </a:rPr>
              <a:t>Azure OpenAI interprets extracted data, identifying key fields and validating information. The AI models handle variations in invoice formats and languages while maintaining accuracy.</a:t>
            </a:r>
            <a:endParaRPr lang="en-US" sz="1450" dirty="0"/>
          </a:p>
        </p:txBody>
      </p:sp>
      <p:sp>
        <p:nvSpPr>
          <p:cNvPr id="16" name="Rectangle 15">
            <a:extLst>
              <a:ext uri="{FF2B5EF4-FFF2-40B4-BE49-F238E27FC236}">
                <a16:creationId xmlns:a16="http://schemas.microsoft.com/office/drawing/2014/main" id="{41AE8741-A9B2-22CB-FCCB-F007D650502D}"/>
              </a:ext>
            </a:extLst>
          </p:cNvPr>
          <p:cNvSpPr/>
          <p:nvPr/>
        </p:nvSpPr>
        <p:spPr>
          <a:xfrm>
            <a:off x="12748590" y="7686260"/>
            <a:ext cx="1881809" cy="543339"/>
          </a:xfrm>
          <a:prstGeom prst="rect">
            <a:avLst/>
          </a:prstGeom>
          <a:solidFill>
            <a:srgbClr val="F9F8F5"/>
          </a:solidFill>
          <a:ln>
            <a:solidFill>
              <a:srgbClr val="F9F8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nvSpPr>
        <p:spPr>
          <a:xfrm>
            <a:off x="614149" y="834271"/>
            <a:ext cx="13326522" cy="1231583"/>
          </a:xfrm>
          <a:prstGeom prst="rect">
            <a:avLst/>
          </a:prstGeom>
          <a:noFill/>
          <a:ln/>
        </p:spPr>
        <p:txBody>
          <a:bodyPr wrap="square" lIns="0" tIns="0" rIns="0" bIns="0" rtlCol="0" anchor="t"/>
          <a:lstStyle/>
          <a:p>
            <a:pPr marL="0" indent="0" algn="l">
              <a:lnSpc>
                <a:spcPts val="4800"/>
              </a:lnSpc>
              <a:buNone/>
            </a:pPr>
            <a:r>
              <a:rPr lang="en-US" sz="3850" dirty="0">
                <a:solidFill>
                  <a:srgbClr val="161613"/>
                </a:solidFill>
                <a:latin typeface="DM Sans Medium" pitchFamily="34" charset="0"/>
                <a:ea typeface="DM Sans Medium" pitchFamily="34" charset="-122"/>
                <a:cs typeface="DM Sans Medium" pitchFamily="34" charset="-120"/>
              </a:rPr>
              <a:t>Configuration Management Platform</a:t>
            </a:r>
            <a:endParaRPr lang="en-US" sz="3850" dirty="0"/>
          </a:p>
        </p:txBody>
      </p:sp>
      <p:sp>
        <p:nvSpPr>
          <p:cNvPr id="4" name="Shape 1"/>
          <p:cNvSpPr/>
          <p:nvPr/>
        </p:nvSpPr>
        <p:spPr>
          <a:xfrm>
            <a:off x="614149" y="2065854"/>
            <a:ext cx="6701051" cy="2745224"/>
          </a:xfrm>
          <a:prstGeom prst="roundRect">
            <a:avLst>
              <a:gd name="adj" fmla="val 1077"/>
            </a:avLst>
          </a:prstGeom>
          <a:solidFill>
            <a:srgbClr val="EDEBE3"/>
          </a:solidFill>
          <a:ln/>
        </p:spPr>
        <p:txBody>
          <a:bodyPr/>
          <a:lstStyle/>
          <a:p>
            <a:endParaRPr lang="en-IN"/>
          </a:p>
        </p:txBody>
      </p:sp>
      <p:sp>
        <p:nvSpPr>
          <p:cNvPr id="5" name="Shape 2"/>
          <p:cNvSpPr/>
          <p:nvPr/>
        </p:nvSpPr>
        <p:spPr>
          <a:xfrm>
            <a:off x="811199" y="2262903"/>
            <a:ext cx="771942" cy="591145"/>
          </a:xfrm>
          <a:prstGeom prst="roundRect">
            <a:avLst>
              <a:gd name="adj" fmla="val 15466739"/>
            </a:avLst>
          </a:prstGeom>
          <a:solidFill>
            <a:srgbClr val="28282F"/>
          </a:solidFill>
          <a:ln/>
        </p:spPr>
        <p:txBody>
          <a:bodyPr/>
          <a:lstStyle/>
          <a:p>
            <a:endParaRPr lang="en-IN"/>
          </a:p>
        </p:txBody>
      </p:sp>
      <p:pic>
        <p:nvPicPr>
          <p:cNvPr id="6"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73717" y="2425423"/>
            <a:ext cx="469461" cy="265986"/>
          </a:xfrm>
          <a:prstGeom prst="rect">
            <a:avLst/>
          </a:prstGeom>
        </p:spPr>
      </p:pic>
      <p:sp>
        <p:nvSpPr>
          <p:cNvPr id="7" name="Text 3"/>
          <p:cNvSpPr/>
          <p:nvPr/>
        </p:nvSpPr>
        <p:spPr>
          <a:xfrm>
            <a:off x="811198" y="3025260"/>
            <a:ext cx="4711413" cy="307896"/>
          </a:xfrm>
          <a:prstGeom prst="rect">
            <a:avLst/>
          </a:prstGeom>
          <a:noFill/>
          <a:ln/>
        </p:spPr>
        <p:txBody>
          <a:bodyPr wrap="none" lIns="0" tIns="0" rIns="0" bIns="0" rtlCol="0" anchor="t"/>
          <a:lstStyle/>
          <a:p>
            <a:pPr marL="0" indent="0" algn="l">
              <a:lnSpc>
                <a:spcPts val="2400"/>
              </a:lnSpc>
              <a:buNone/>
            </a:pPr>
            <a:r>
              <a:rPr lang="en-US" sz="1900" dirty="0">
                <a:solidFill>
                  <a:srgbClr val="161613"/>
                </a:solidFill>
                <a:latin typeface="DM Sans Medium" pitchFamily="34" charset="0"/>
                <a:ea typeface="DM Sans Medium" pitchFamily="34" charset="-122"/>
                <a:cs typeface="DM Sans Medium" pitchFamily="34" charset="-120"/>
              </a:rPr>
              <a:t>Dynamic Configuration</a:t>
            </a:r>
            <a:endParaRPr lang="en-US" sz="1900" dirty="0"/>
          </a:p>
        </p:txBody>
      </p:sp>
      <p:sp>
        <p:nvSpPr>
          <p:cNvPr id="8" name="Text 4"/>
          <p:cNvSpPr/>
          <p:nvPr/>
        </p:nvSpPr>
        <p:spPr>
          <a:xfrm>
            <a:off x="811198" y="3435787"/>
            <a:ext cx="6005476" cy="1178243"/>
          </a:xfrm>
          <a:prstGeom prst="rect">
            <a:avLst/>
          </a:prstGeom>
          <a:noFill/>
          <a:ln/>
        </p:spPr>
        <p:txBody>
          <a:bodyPr wrap="square" lIns="0" tIns="0" rIns="0" bIns="0" rtlCol="0" anchor="t"/>
          <a:lstStyle/>
          <a:p>
            <a:pPr marL="0" indent="0" algn="l">
              <a:lnSpc>
                <a:spcPts val="2300"/>
              </a:lnSpc>
              <a:buNone/>
            </a:pPr>
            <a:r>
              <a:rPr lang="en-US" sz="1550" dirty="0">
                <a:solidFill>
                  <a:srgbClr val="161613"/>
                </a:solidFill>
                <a:latin typeface="Inter" pitchFamily="34" charset="0"/>
                <a:ea typeface="Inter" pitchFamily="34" charset="-122"/>
                <a:cs typeface="Inter" pitchFamily="34" charset="-120"/>
              </a:rPr>
              <a:t>Manage API keys, secret keys, and endpoint URLs through an intuitive interface. Changes apply immediately without server restart.</a:t>
            </a:r>
            <a:endParaRPr lang="en-US" sz="1550" dirty="0"/>
          </a:p>
        </p:txBody>
      </p:sp>
      <p:sp>
        <p:nvSpPr>
          <p:cNvPr id="9" name="Shape 5"/>
          <p:cNvSpPr/>
          <p:nvPr/>
        </p:nvSpPr>
        <p:spPr>
          <a:xfrm>
            <a:off x="7512249" y="2065854"/>
            <a:ext cx="6504002" cy="2745224"/>
          </a:xfrm>
          <a:prstGeom prst="roundRect">
            <a:avLst>
              <a:gd name="adj" fmla="val 1077"/>
            </a:avLst>
          </a:prstGeom>
          <a:solidFill>
            <a:srgbClr val="EDEBE3"/>
          </a:solidFill>
          <a:ln/>
        </p:spPr>
        <p:txBody>
          <a:bodyPr/>
          <a:lstStyle/>
          <a:p>
            <a:endParaRPr lang="en-IN"/>
          </a:p>
        </p:txBody>
      </p:sp>
      <p:sp>
        <p:nvSpPr>
          <p:cNvPr id="10" name="Shape 6"/>
          <p:cNvSpPr/>
          <p:nvPr/>
        </p:nvSpPr>
        <p:spPr>
          <a:xfrm>
            <a:off x="7709297" y="2262903"/>
            <a:ext cx="779610" cy="591145"/>
          </a:xfrm>
          <a:prstGeom prst="roundRect">
            <a:avLst>
              <a:gd name="adj" fmla="val 15466739"/>
            </a:avLst>
          </a:prstGeom>
          <a:solidFill>
            <a:srgbClr val="28282F"/>
          </a:solidFill>
          <a:ln/>
        </p:spPr>
        <p:txBody>
          <a:bodyPr/>
          <a:lstStyle/>
          <a:p>
            <a:endParaRPr lang="en-IN"/>
          </a:p>
        </p:txBody>
      </p:sp>
      <p:pic>
        <p:nvPicPr>
          <p:cNvPr id="11"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71818" y="2425423"/>
            <a:ext cx="455656" cy="265986"/>
          </a:xfrm>
          <a:prstGeom prst="rect">
            <a:avLst/>
          </a:prstGeom>
        </p:spPr>
      </p:pic>
      <p:sp>
        <p:nvSpPr>
          <p:cNvPr id="12" name="Text 7"/>
          <p:cNvSpPr/>
          <p:nvPr/>
        </p:nvSpPr>
        <p:spPr>
          <a:xfrm>
            <a:off x="7709297" y="3025260"/>
            <a:ext cx="4393179" cy="307896"/>
          </a:xfrm>
          <a:prstGeom prst="rect">
            <a:avLst/>
          </a:prstGeom>
          <a:noFill/>
          <a:ln/>
        </p:spPr>
        <p:txBody>
          <a:bodyPr wrap="none" lIns="0" tIns="0" rIns="0" bIns="0" rtlCol="0" anchor="t"/>
          <a:lstStyle/>
          <a:p>
            <a:pPr marL="0" indent="0" algn="l">
              <a:lnSpc>
                <a:spcPts val="2400"/>
              </a:lnSpc>
              <a:buNone/>
            </a:pPr>
            <a:r>
              <a:rPr lang="en-US" sz="1900" dirty="0">
                <a:solidFill>
                  <a:srgbClr val="161613"/>
                </a:solidFill>
                <a:latin typeface="DM Sans Medium" pitchFamily="34" charset="0"/>
                <a:ea typeface="DM Sans Medium" pitchFamily="34" charset="-122"/>
                <a:cs typeface="DM Sans Medium" pitchFamily="34" charset="-120"/>
              </a:rPr>
              <a:t>Scheduled Processing</a:t>
            </a:r>
            <a:endParaRPr lang="en-US" sz="1900" dirty="0"/>
          </a:p>
        </p:txBody>
      </p:sp>
      <p:sp>
        <p:nvSpPr>
          <p:cNvPr id="13" name="Text 8"/>
          <p:cNvSpPr/>
          <p:nvPr/>
        </p:nvSpPr>
        <p:spPr>
          <a:xfrm>
            <a:off x="7709296" y="3435787"/>
            <a:ext cx="5828881" cy="1178243"/>
          </a:xfrm>
          <a:prstGeom prst="rect">
            <a:avLst/>
          </a:prstGeom>
          <a:noFill/>
          <a:ln/>
        </p:spPr>
        <p:txBody>
          <a:bodyPr wrap="square" lIns="0" tIns="0" rIns="0" bIns="0" rtlCol="0" anchor="t"/>
          <a:lstStyle/>
          <a:p>
            <a:pPr marL="0" indent="0" algn="l">
              <a:lnSpc>
                <a:spcPts val="2300"/>
              </a:lnSpc>
              <a:buNone/>
            </a:pPr>
            <a:r>
              <a:rPr lang="en-US" sz="1550" dirty="0">
                <a:solidFill>
                  <a:srgbClr val="161613"/>
                </a:solidFill>
                <a:latin typeface="Inter" pitchFamily="34" charset="0"/>
                <a:ea typeface="Inter" pitchFamily="34" charset="-122"/>
                <a:cs typeface="Inter" pitchFamily="34" charset="-120"/>
              </a:rPr>
              <a:t>Define email processing intervals from 3 minutes to 1 hour. Flexible scheduling adapts to workload requirements.</a:t>
            </a:r>
            <a:endParaRPr lang="en-US" sz="1550" dirty="0"/>
          </a:p>
        </p:txBody>
      </p:sp>
      <p:sp>
        <p:nvSpPr>
          <p:cNvPr id="14" name="Shape 9"/>
          <p:cNvSpPr/>
          <p:nvPr/>
        </p:nvSpPr>
        <p:spPr>
          <a:xfrm>
            <a:off x="614149" y="5195769"/>
            <a:ext cx="13402102" cy="2156103"/>
          </a:xfrm>
          <a:prstGeom prst="roundRect">
            <a:avLst>
              <a:gd name="adj" fmla="val 1371"/>
            </a:avLst>
          </a:prstGeom>
          <a:solidFill>
            <a:srgbClr val="EDEBE3"/>
          </a:solidFill>
          <a:ln/>
        </p:spPr>
        <p:txBody>
          <a:bodyPr/>
          <a:lstStyle/>
          <a:p>
            <a:endParaRPr lang="en-IN"/>
          </a:p>
        </p:txBody>
      </p:sp>
      <p:sp>
        <p:nvSpPr>
          <p:cNvPr id="15" name="Shape 10"/>
          <p:cNvSpPr/>
          <p:nvPr/>
        </p:nvSpPr>
        <p:spPr>
          <a:xfrm>
            <a:off x="811198" y="5392818"/>
            <a:ext cx="591145" cy="591145"/>
          </a:xfrm>
          <a:prstGeom prst="roundRect">
            <a:avLst>
              <a:gd name="adj" fmla="val 15466739"/>
            </a:avLst>
          </a:prstGeom>
          <a:solidFill>
            <a:srgbClr val="28282F"/>
          </a:solidFill>
          <a:ln/>
        </p:spPr>
        <p:txBody>
          <a:bodyPr/>
          <a:lstStyle/>
          <a:p>
            <a:endParaRPr lang="en-IN"/>
          </a:p>
        </p:txBody>
      </p:sp>
      <p:pic>
        <p:nvPicPr>
          <p:cNvPr id="16"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73718" y="5555338"/>
            <a:ext cx="265986" cy="265986"/>
          </a:xfrm>
          <a:prstGeom prst="rect">
            <a:avLst/>
          </a:prstGeom>
        </p:spPr>
      </p:pic>
      <p:sp>
        <p:nvSpPr>
          <p:cNvPr id="17" name="Text 11"/>
          <p:cNvSpPr/>
          <p:nvPr/>
        </p:nvSpPr>
        <p:spPr>
          <a:xfrm>
            <a:off x="811198" y="6155175"/>
            <a:ext cx="2463522" cy="307896"/>
          </a:xfrm>
          <a:prstGeom prst="rect">
            <a:avLst/>
          </a:prstGeom>
          <a:noFill/>
          <a:ln/>
        </p:spPr>
        <p:txBody>
          <a:bodyPr wrap="none" lIns="0" tIns="0" rIns="0" bIns="0" rtlCol="0" anchor="t"/>
          <a:lstStyle/>
          <a:p>
            <a:pPr marL="0" indent="0" algn="l">
              <a:lnSpc>
                <a:spcPts val="2400"/>
              </a:lnSpc>
              <a:buNone/>
            </a:pPr>
            <a:r>
              <a:rPr lang="en-US" sz="1900" dirty="0">
                <a:solidFill>
                  <a:srgbClr val="161613"/>
                </a:solidFill>
                <a:latin typeface="DM Sans Medium" pitchFamily="34" charset="0"/>
                <a:ea typeface="DM Sans Medium" pitchFamily="34" charset="-122"/>
                <a:cs typeface="DM Sans Medium" pitchFamily="34" charset="-120"/>
              </a:rPr>
              <a:t>Processing Logs</a:t>
            </a:r>
            <a:endParaRPr lang="en-US" sz="1900" dirty="0"/>
          </a:p>
        </p:txBody>
      </p:sp>
      <p:sp>
        <p:nvSpPr>
          <p:cNvPr id="18" name="Text 12"/>
          <p:cNvSpPr/>
          <p:nvPr/>
        </p:nvSpPr>
        <p:spPr>
          <a:xfrm>
            <a:off x="811198" y="6565702"/>
            <a:ext cx="7370445" cy="589121"/>
          </a:xfrm>
          <a:prstGeom prst="rect">
            <a:avLst/>
          </a:prstGeom>
          <a:noFill/>
          <a:ln/>
        </p:spPr>
        <p:txBody>
          <a:bodyPr wrap="square" lIns="0" tIns="0" rIns="0" bIns="0" rtlCol="0" anchor="t"/>
          <a:lstStyle/>
          <a:p>
            <a:pPr marL="0" indent="0" algn="l">
              <a:lnSpc>
                <a:spcPts val="2300"/>
              </a:lnSpc>
              <a:buNone/>
            </a:pPr>
            <a:r>
              <a:rPr lang="en-US" sz="1550" dirty="0">
                <a:solidFill>
                  <a:srgbClr val="161613"/>
                </a:solidFill>
                <a:latin typeface="Inter" pitchFamily="34" charset="0"/>
                <a:ea typeface="Inter" pitchFamily="34" charset="-122"/>
                <a:cs typeface="Inter" pitchFamily="34" charset="-120"/>
              </a:rPr>
              <a:t>View complete processing history with success/failure status, timestamps, and error details for troubleshooting.</a:t>
            </a:r>
            <a:endParaRPr lang="en-US" sz="1550" dirty="0"/>
          </a:p>
        </p:txBody>
      </p:sp>
      <p:sp>
        <p:nvSpPr>
          <p:cNvPr id="21" name="Rectangle 20">
            <a:extLst>
              <a:ext uri="{FF2B5EF4-FFF2-40B4-BE49-F238E27FC236}">
                <a16:creationId xmlns:a16="http://schemas.microsoft.com/office/drawing/2014/main" id="{6C10D58F-212D-DEA5-B0EC-A9621CD3A56F}"/>
              </a:ext>
            </a:extLst>
          </p:cNvPr>
          <p:cNvSpPr/>
          <p:nvPr/>
        </p:nvSpPr>
        <p:spPr>
          <a:xfrm>
            <a:off x="12748590" y="7686260"/>
            <a:ext cx="1881809" cy="543339"/>
          </a:xfrm>
          <a:prstGeom prst="rect">
            <a:avLst/>
          </a:prstGeom>
          <a:solidFill>
            <a:srgbClr val="F9F8F5"/>
          </a:solidFill>
          <a:ln>
            <a:solidFill>
              <a:srgbClr val="F9F8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81752" y="535662"/>
            <a:ext cx="6932771" cy="608648"/>
          </a:xfrm>
          <a:prstGeom prst="rect">
            <a:avLst/>
          </a:prstGeom>
          <a:noFill/>
          <a:ln/>
        </p:spPr>
        <p:txBody>
          <a:bodyPr wrap="none" lIns="0" tIns="0" rIns="0" bIns="0" rtlCol="0" anchor="t"/>
          <a:lstStyle/>
          <a:p>
            <a:pPr marL="0" indent="0" algn="l">
              <a:lnSpc>
                <a:spcPts val="4750"/>
              </a:lnSpc>
              <a:buNone/>
            </a:pPr>
            <a:r>
              <a:rPr lang="en-US" sz="3800" dirty="0">
                <a:solidFill>
                  <a:srgbClr val="161613"/>
                </a:solidFill>
                <a:latin typeface="DM Sans Medium" pitchFamily="34" charset="0"/>
                <a:ea typeface="DM Sans Medium" pitchFamily="34" charset="-122"/>
                <a:cs typeface="DM Sans Medium" pitchFamily="34" charset="-120"/>
              </a:rPr>
              <a:t>Security &amp; Validation Features</a:t>
            </a:r>
            <a:endParaRPr lang="en-US" sz="3800" dirty="0"/>
          </a:p>
        </p:txBody>
      </p:sp>
      <p:sp>
        <p:nvSpPr>
          <p:cNvPr id="3" name="Text 1"/>
          <p:cNvSpPr/>
          <p:nvPr/>
        </p:nvSpPr>
        <p:spPr>
          <a:xfrm>
            <a:off x="681752" y="2630448"/>
            <a:ext cx="3243143" cy="365165"/>
          </a:xfrm>
          <a:prstGeom prst="rect">
            <a:avLst/>
          </a:prstGeom>
          <a:noFill/>
          <a:ln/>
        </p:spPr>
        <p:txBody>
          <a:bodyPr wrap="none" lIns="0" tIns="0" rIns="0" bIns="0" rtlCol="0" anchor="t"/>
          <a:lstStyle/>
          <a:p>
            <a:pPr marL="0" indent="0" algn="l">
              <a:lnSpc>
                <a:spcPts val="2850"/>
              </a:lnSpc>
              <a:buNone/>
            </a:pPr>
            <a:r>
              <a:rPr lang="en-US" sz="2300" dirty="0">
                <a:solidFill>
                  <a:srgbClr val="161613"/>
                </a:solidFill>
                <a:latin typeface="DM Sans Medium" pitchFamily="34" charset="0"/>
                <a:ea typeface="DM Sans Medium" pitchFamily="34" charset="-122"/>
                <a:cs typeface="DM Sans Medium" pitchFamily="34" charset="-120"/>
              </a:rPr>
              <a:t>Multi-Layer Verification</a:t>
            </a:r>
            <a:endParaRPr lang="en-US" sz="2300" dirty="0"/>
          </a:p>
        </p:txBody>
      </p:sp>
      <p:sp>
        <p:nvSpPr>
          <p:cNvPr id="4" name="Text 2"/>
          <p:cNvSpPr/>
          <p:nvPr/>
        </p:nvSpPr>
        <p:spPr>
          <a:xfrm>
            <a:off x="681752" y="3162776"/>
            <a:ext cx="4334589" cy="2202299"/>
          </a:xfrm>
          <a:prstGeom prst="rect">
            <a:avLst/>
          </a:prstGeom>
          <a:noFill/>
          <a:ln/>
        </p:spPr>
        <p:txBody>
          <a:bodyPr wrap="square" lIns="0" tIns="0" rIns="0" bIns="0" rtlCol="0" anchor="t"/>
          <a:lstStyle/>
          <a:p>
            <a:pPr marL="342900" indent="-342900" algn="l">
              <a:lnSpc>
                <a:spcPts val="2250"/>
              </a:lnSpc>
              <a:buSzPct val="100000"/>
              <a:buChar char="•"/>
            </a:pPr>
            <a:r>
              <a:rPr lang="en-US" sz="1500" dirty="0">
                <a:solidFill>
                  <a:srgbClr val="161613"/>
                </a:solidFill>
                <a:latin typeface="Inter" pitchFamily="34" charset="0"/>
                <a:ea typeface="Inter" pitchFamily="34" charset="-122"/>
                <a:cs typeface="Inter" pitchFamily="34" charset="-120"/>
              </a:rPr>
              <a:t>Digital signature validation ensures document authenticity</a:t>
            </a:r>
            <a:endParaRPr lang="en-US" sz="1500" dirty="0"/>
          </a:p>
          <a:p>
            <a:pPr marL="342900" indent="-342900" algn="l">
              <a:lnSpc>
                <a:spcPts val="2250"/>
              </a:lnSpc>
              <a:buSzPct val="100000"/>
              <a:buChar char="•"/>
            </a:pPr>
            <a:r>
              <a:rPr lang="en-US" sz="1500" dirty="0">
                <a:solidFill>
                  <a:srgbClr val="161613"/>
                </a:solidFill>
                <a:latin typeface="Inter" pitchFamily="34" charset="0"/>
                <a:ea typeface="Inter" pitchFamily="34" charset="-122"/>
                <a:cs typeface="Inter" pitchFamily="34" charset="-120"/>
              </a:rPr>
              <a:t>QR code data extraction provides trusted source information</a:t>
            </a:r>
            <a:endParaRPr lang="en-US" sz="1500" dirty="0"/>
          </a:p>
          <a:p>
            <a:pPr marL="342900" indent="-342900" algn="l">
              <a:lnSpc>
                <a:spcPts val="2250"/>
              </a:lnSpc>
              <a:buSzPct val="100000"/>
              <a:buChar char="•"/>
            </a:pPr>
            <a:r>
              <a:rPr lang="en-US" sz="1500" dirty="0">
                <a:solidFill>
                  <a:srgbClr val="161613"/>
                </a:solidFill>
                <a:latin typeface="Inter" pitchFamily="34" charset="0"/>
                <a:ea typeface="Inter" pitchFamily="34" charset="-122"/>
                <a:cs typeface="Inter" pitchFamily="34" charset="-120"/>
              </a:rPr>
              <a:t>Encrypted credential storage using login.ini and .env files</a:t>
            </a:r>
            <a:endParaRPr lang="en-US" sz="1500" dirty="0"/>
          </a:p>
          <a:p>
            <a:pPr marL="342900" indent="-342900" algn="l">
              <a:lnSpc>
                <a:spcPts val="2250"/>
              </a:lnSpc>
              <a:buSzPct val="100000"/>
              <a:buChar char="•"/>
            </a:pPr>
            <a:r>
              <a:rPr lang="en-US" sz="1500" dirty="0">
                <a:solidFill>
                  <a:srgbClr val="161613"/>
                </a:solidFill>
                <a:latin typeface="Inter" pitchFamily="34" charset="0"/>
                <a:ea typeface="Inter" pitchFamily="34" charset="-122"/>
                <a:cs typeface="Inter" pitchFamily="34" charset="-120"/>
              </a:rPr>
              <a:t>Server-side configuration management</a:t>
            </a:r>
            <a:endParaRPr lang="en-US" sz="1500" dirty="0"/>
          </a:p>
        </p:txBody>
      </p:sp>
      <p:pic>
        <p:nvPicPr>
          <p:cNvPr id="5" name="Image 0" descr="preencoded.png"/>
          <p:cNvPicPr>
            <a:picLocks noChangeAspect="1"/>
          </p:cNvPicPr>
          <p:nvPr/>
        </p:nvPicPr>
        <p:blipFill>
          <a:blip r:embed="rId3"/>
          <a:stretch>
            <a:fillRect/>
          </a:stretch>
        </p:blipFill>
        <p:spPr>
          <a:xfrm>
            <a:off x="5499021" y="1583293"/>
            <a:ext cx="8457128" cy="4720233"/>
          </a:xfrm>
          <a:prstGeom prst="rect">
            <a:avLst/>
          </a:prstGeom>
        </p:spPr>
      </p:pic>
      <p:sp>
        <p:nvSpPr>
          <p:cNvPr id="6" name="Shape 3"/>
          <p:cNvSpPr/>
          <p:nvPr/>
        </p:nvSpPr>
        <p:spPr>
          <a:xfrm>
            <a:off x="681752" y="6679763"/>
            <a:ext cx="13266896" cy="1042868"/>
          </a:xfrm>
          <a:prstGeom prst="roundRect">
            <a:avLst>
              <a:gd name="adj" fmla="val 2802"/>
            </a:avLst>
          </a:prstGeom>
          <a:solidFill>
            <a:srgbClr val="D6D6DC"/>
          </a:solidFill>
          <a:ln/>
        </p:spPr>
        <p:txBody>
          <a:bodyPr/>
          <a:lstStyle/>
          <a:p>
            <a:endParaRPr lang="en-IN"/>
          </a:p>
        </p:txBody>
      </p:sp>
      <p:pic>
        <p:nvPicPr>
          <p:cNvPr id="7" name="Image 1" descr="preencoded.png"/>
          <p:cNvPicPr>
            <a:picLocks noChangeAspect="1"/>
          </p:cNvPicPr>
          <p:nvPr/>
        </p:nvPicPr>
        <p:blipFill>
          <a:blip r:embed="rId4"/>
          <a:stretch>
            <a:fillRect/>
          </a:stretch>
        </p:blipFill>
        <p:spPr>
          <a:xfrm>
            <a:off x="876538" y="6966109"/>
            <a:ext cx="243483" cy="194786"/>
          </a:xfrm>
          <a:prstGeom prst="rect">
            <a:avLst/>
          </a:prstGeom>
        </p:spPr>
      </p:pic>
      <p:sp>
        <p:nvSpPr>
          <p:cNvPr id="8" name="Text 4"/>
          <p:cNvSpPr/>
          <p:nvPr/>
        </p:nvSpPr>
        <p:spPr>
          <a:xfrm>
            <a:off x="1314807" y="6895624"/>
            <a:ext cx="12439055" cy="579120"/>
          </a:xfrm>
          <a:prstGeom prst="rect">
            <a:avLst/>
          </a:prstGeom>
          <a:noFill/>
          <a:ln/>
        </p:spPr>
        <p:txBody>
          <a:bodyPr wrap="square" lIns="0" tIns="0" rIns="0" bIns="0" rtlCol="0" anchor="t"/>
          <a:lstStyle/>
          <a:p>
            <a:pPr marL="0" indent="0" algn="l">
              <a:lnSpc>
                <a:spcPts val="2250"/>
              </a:lnSpc>
              <a:buNone/>
            </a:pPr>
            <a:r>
              <a:rPr lang="en-US" sz="1500" b="1" dirty="0">
                <a:solidFill>
                  <a:srgbClr val="000000"/>
                </a:solidFill>
                <a:latin typeface="Inter" pitchFamily="34" charset="0"/>
                <a:ea typeface="Inter" pitchFamily="34" charset="-122"/>
                <a:cs typeface="Inter" pitchFamily="34" charset="-120"/>
              </a:rPr>
              <a:t>Authentication:</a:t>
            </a:r>
            <a:r>
              <a:rPr lang="en-US" sz="1500" dirty="0">
                <a:solidFill>
                  <a:srgbClr val="000000"/>
                </a:solidFill>
                <a:latin typeface="Inter" pitchFamily="34" charset="0"/>
                <a:ea typeface="Inter" pitchFamily="34" charset="-122"/>
                <a:cs typeface="Inter" pitchFamily="34" charset="-120"/>
              </a:rPr>
              <a:t> Platform uses static credentials from login.ini file for user authentication. API keys and service URLs are stored in .env configuration file.</a:t>
            </a:r>
            <a:endParaRPr lang="en-US" sz="1500" dirty="0"/>
          </a:p>
        </p:txBody>
      </p:sp>
      <p:sp>
        <p:nvSpPr>
          <p:cNvPr id="9" name="Rectangle 8">
            <a:extLst>
              <a:ext uri="{FF2B5EF4-FFF2-40B4-BE49-F238E27FC236}">
                <a16:creationId xmlns:a16="http://schemas.microsoft.com/office/drawing/2014/main" id="{D4718555-BA89-499E-510E-7EEC2F2EF3D4}"/>
              </a:ext>
            </a:extLst>
          </p:cNvPr>
          <p:cNvSpPr/>
          <p:nvPr/>
        </p:nvSpPr>
        <p:spPr>
          <a:xfrm>
            <a:off x="12748590" y="7722631"/>
            <a:ext cx="1881809" cy="506968"/>
          </a:xfrm>
          <a:prstGeom prst="rect">
            <a:avLst/>
          </a:prstGeom>
          <a:solidFill>
            <a:srgbClr val="F9F8F5"/>
          </a:solidFill>
          <a:ln>
            <a:solidFill>
              <a:srgbClr val="F9F8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174909"/>
            <a:ext cx="6633686" cy="708779"/>
          </a:xfrm>
          <a:prstGeom prst="rect">
            <a:avLst/>
          </a:prstGeom>
          <a:noFill/>
          <a:ln/>
        </p:spPr>
        <p:txBody>
          <a:bodyPr wrap="none" lIns="0" tIns="0" rIns="0" bIns="0" rtlCol="0" anchor="t"/>
          <a:lstStyle/>
          <a:p>
            <a:pPr marL="0" indent="0" algn="l">
              <a:lnSpc>
                <a:spcPts val="5550"/>
              </a:lnSpc>
              <a:buNone/>
            </a:pPr>
            <a:r>
              <a:rPr lang="en-US" sz="4450" dirty="0">
                <a:solidFill>
                  <a:srgbClr val="161613"/>
                </a:solidFill>
                <a:latin typeface="DM Sans Medium" pitchFamily="34" charset="0"/>
                <a:ea typeface="DM Sans Medium" pitchFamily="34" charset="-122"/>
                <a:cs typeface="DM Sans Medium" pitchFamily="34" charset="-120"/>
              </a:rPr>
              <a:t>Performance Parameters</a:t>
            </a:r>
            <a:endParaRPr lang="en-US" sz="4450" dirty="0"/>
          </a:p>
        </p:txBody>
      </p:sp>
      <p:sp>
        <p:nvSpPr>
          <p:cNvPr id="3" name="Text 1"/>
          <p:cNvSpPr/>
          <p:nvPr/>
        </p:nvSpPr>
        <p:spPr>
          <a:xfrm>
            <a:off x="793790" y="2450663"/>
            <a:ext cx="4158615" cy="748427"/>
          </a:xfrm>
          <a:prstGeom prst="rect">
            <a:avLst/>
          </a:prstGeom>
          <a:noFill/>
          <a:ln/>
        </p:spPr>
        <p:txBody>
          <a:bodyPr wrap="none" lIns="0" tIns="0" rIns="0" bIns="0" rtlCol="0" anchor="t"/>
          <a:lstStyle/>
          <a:p>
            <a:pPr marL="0" indent="0" algn="ctr">
              <a:lnSpc>
                <a:spcPts val="5850"/>
              </a:lnSpc>
              <a:buNone/>
            </a:pPr>
            <a:r>
              <a:rPr lang="en-US" sz="5850" dirty="0">
                <a:solidFill>
                  <a:srgbClr val="161613"/>
                </a:solidFill>
                <a:latin typeface="DM Sans Medium" pitchFamily="34" charset="0"/>
                <a:ea typeface="DM Sans Medium" pitchFamily="34" charset="-122"/>
                <a:cs typeface="DM Sans Medium" pitchFamily="34" charset="-120"/>
              </a:rPr>
              <a:t>30s</a:t>
            </a:r>
            <a:endParaRPr lang="en-US" sz="5850" dirty="0"/>
          </a:p>
        </p:txBody>
      </p:sp>
      <p:sp>
        <p:nvSpPr>
          <p:cNvPr id="4" name="Text 2"/>
          <p:cNvSpPr/>
          <p:nvPr/>
        </p:nvSpPr>
        <p:spPr>
          <a:xfrm>
            <a:off x="1128951" y="3482459"/>
            <a:ext cx="3488293" cy="354330"/>
          </a:xfrm>
          <a:prstGeom prst="rect">
            <a:avLst/>
          </a:prstGeom>
          <a:noFill/>
          <a:ln/>
        </p:spPr>
        <p:txBody>
          <a:bodyPr wrap="none" lIns="0" tIns="0" rIns="0" bIns="0" rtlCol="0" anchor="t"/>
          <a:lstStyle/>
          <a:p>
            <a:pPr marL="0" indent="0" algn="ctr">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Minimum Processing Time</a:t>
            </a:r>
            <a:endParaRPr lang="en-US" sz="2200" dirty="0"/>
          </a:p>
        </p:txBody>
      </p:sp>
      <p:sp>
        <p:nvSpPr>
          <p:cNvPr id="5" name="Text 3"/>
          <p:cNvSpPr/>
          <p:nvPr/>
        </p:nvSpPr>
        <p:spPr>
          <a:xfrm>
            <a:off x="793790" y="3972878"/>
            <a:ext cx="4158615" cy="725805"/>
          </a:xfrm>
          <a:prstGeom prst="rect">
            <a:avLst/>
          </a:prstGeom>
          <a:noFill/>
          <a:ln/>
        </p:spPr>
        <p:txBody>
          <a:bodyPr wrap="square" lIns="0" tIns="0" rIns="0" bIns="0" rtlCol="0" anchor="t"/>
          <a:lstStyle/>
          <a:p>
            <a:pPr marL="0" indent="0" algn="ctr">
              <a:lnSpc>
                <a:spcPts val="2850"/>
              </a:lnSpc>
              <a:buNone/>
            </a:pPr>
            <a:r>
              <a:rPr lang="en-US" sz="1750" dirty="0">
                <a:solidFill>
                  <a:srgbClr val="161613"/>
                </a:solidFill>
                <a:latin typeface="Inter" pitchFamily="34" charset="0"/>
                <a:ea typeface="Inter" pitchFamily="34" charset="-122"/>
                <a:cs typeface="Inter" pitchFamily="34" charset="-120"/>
              </a:rPr>
              <a:t>Smallest document size processing baseline</a:t>
            </a:r>
            <a:endParaRPr lang="en-US" sz="1750" dirty="0"/>
          </a:p>
        </p:txBody>
      </p:sp>
      <p:sp>
        <p:nvSpPr>
          <p:cNvPr id="6" name="Text 4"/>
          <p:cNvSpPr/>
          <p:nvPr/>
        </p:nvSpPr>
        <p:spPr>
          <a:xfrm>
            <a:off x="5235893" y="2450663"/>
            <a:ext cx="4158615" cy="748427"/>
          </a:xfrm>
          <a:prstGeom prst="rect">
            <a:avLst/>
          </a:prstGeom>
          <a:noFill/>
          <a:ln/>
        </p:spPr>
        <p:txBody>
          <a:bodyPr wrap="none" lIns="0" tIns="0" rIns="0" bIns="0" rtlCol="0" anchor="t"/>
          <a:lstStyle/>
          <a:p>
            <a:pPr marL="0" indent="0" algn="ctr">
              <a:lnSpc>
                <a:spcPts val="5850"/>
              </a:lnSpc>
              <a:buNone/>
            </a:pPr>
            <a:r>
              <a:rPr lang="en-US" sz="5850" dirty="0">
                <a:solidFill>
                  <a:srgbClr val="161613"/>
                </a:solidFill>
                <a:latin typeface="DM Sans Medium" pitchFamily="34" charset="0"/>
                <a:ea typeface="DM Sans Medium" pitchFamily="34" charset="-122"/>
                <a:cs typeface="DM Sans Medium" pitchFamily="34" charset="-120"/>
              </a:rPr>
              <a:t>120s</a:t>
            </a:r>
            <a:endParaRPr lang="en-US" sz="5850" dirty="0"/>
          </a:p>
        </p:txBody>
      </p:sp>
      <p:sp>
        <p:nvSpPr>
          <p:cNvPr id="7" name="Text 5"/>
          <p:cNvSpPr/>
          <p:nvPr/>
        </p:nvSpPr>
        <p:spPr>
          <a:xfrm>
            <a:off x="5537002" y="3482459"/>
            <a:ext cx="3556397" cy="354330"/>
          </a:xfrm>
          <a:prstGeom prst="rect">
            <a:avLst/>
          </a:prstGeom>
          <a:noFill/>
          <a:ln/>
        </p:spPr>
        <p:txBody>
          <a:bodyPr wrap="none" lIns="0" tIns="0" rIns="0" bIns="0" rtlCol="0" anchor="t"/>
          <a:lstStyle/>
          <a:p>
            <a:pPr marL="0" indent="0" algn="ctr">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Maximum Processing Time</a:t>
            </a:r>
            <a:endParaRPr lang="en-US" sz="2200" dirty="0"/>
          </a:p>
        </p:txBody>
      </p:sp>
      <p:sp>
        <p:nvSpPr>
          <p:cNvPr id="8" name="Text 6"/>
          <p:cNvSpPr/>
          <p:nvPr/>
        </p:nvSpPr>
        <p:spPr>
          <a:xfrm>
            <a:off x="5235893" y="3972878"/>
            <a:ext cx="4158615" cy="725805"/>
          </a:xfrm>
          <a:prstGeom prst="rect">
            <a:avLst/>
          </a:prstGeom>
          <a:noFill/>
          <a:ln/>
        </p:spPr>
        <p:txBody>
          <a:bodyPr wrap="square" lIns="0" tIns="0" rIns="0" bIns="0" rtlCol="0" anchor="t"/>
          <a:lstStyle/>
          <a:p>
            <a:pPr marL="0" indent="0" algn="ctr">
              <a:lnSpc>
                <a:spcPts val="2850"/>
              </a:lnSpc>
              <a:buNone/>
            </a:pPr>
            <a:r>
              <a:rPr lang="en-US" sz="1750" dirty="0">
                <a:solidFill>
                  <a:srgbClr val="161613"/>
                </a:solidFill>
                <a:latin typeface="Inter" pitchFamily="34" charset="0"/>
                <a:ea typeface="Inter" pitchFamily="34" charset="-122"/>
                <a:cs typeface="Inter" pitchFamily="34" charset="-120"/>
              </a:rPr>
              <a:t>Connection timeout threshold for Azure services</a:t>
            </a:r>
            <a:endParaRPr lang="en-US" sz="1750" dirty="0"/>
          </a:p>
        </p:txBody>
      </p:sp>
      <p:sp>
        <p:nvSpPr>
          <p:cNvPr id="9" name="Text 7"/>
          <p:cNvSpPr/>
          <p:nvPr/>
        </p:nvSpPr>
        <p:spPr>
          <a:xfrm>
            <a:off x="9677995" y="2450663"/>
            <a:ext cx="4158615" cy="748427"/>
          </a:xfrm>
          <a:prstGeom prst="rect">
            <a:avLst/>
          </a:prstGeom>
          <a:noFill/>
          <a:ln/>
        </p:spPr>
        <p:txBody>
          <a:bodyPr wrap="none" lIns="0" tIns="0" rIns="0" bIns="0" rtlCol="0" anchor="t"/>
          <a:lstStyle/>
          <a:p>
            <a:pPr marL="0" indent="0" algn="ctr">
              <a:lnSpc>
                <a:spcPts val="5850"/>
              </a:lnSpc>
              <a:buNone/>
            </a:pPr>
            <a:r>
              <a:rPr lang="en-US" sz="5850" dirty="0">
                <a:solidFill>
                  <a:srgbClr val="161613"/>
                </a:solidFill>
                <a:latin typeface="DM Sans Medium" pitchFamily="34" charset="0"/>
                <a:ea typeface="DM Sans Medium" pitchFamily="34" charset="-122"/>
                <a:cs typeface="DM Sans Medium" pitchFamily="34" charset="-120"/>
              </a:rPr>
              <a:t>100%</a:t>
            </a:r>
            <a:endParaRPr lang="en-US" sz="5850" dirty="0"/>
          </a:p>
        </p:txBody>
      </p:sp>
      <p:sp>
        <p:nvSpPr>
          <p:cNvPr id="10" name="Text 8"/>
          <p:cNvSpPr/>
          <p:nvPr/>
        </p:nvSpPr>
        <p:spPr>
          <a:xfrm>
            <a:off x="10339626" y="3482459"/>
            <a:ext cx="2835235" cy="354330"/>
          </a:xfrm>
          <a:prstGeom prst="rect">
            <a:avLst/>
          </a:prstGeom>
          <a:noFill/>
          <a:ln/>
        </p:spPr>
        <p:txBody>
          <a:bodyPr wrap="none" lIns="0" tIns="0" rIns="0" bIns="0" rtlCol="0" anchor="t"/>
          <a:lstStyle/>
          <a:p>
            <a:pPr marL="0" indent="0" algn="ctr">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Single Processing</a:t>
            </a:r>
            <a:endParaRPr lang="en-US" sz="2200" dirty="0"/>
          </a:p>
        </p:txBody>
      </p:sp>
      <p:sp>
        <p:nvSpPr>
          <p:cNvPr id="11" name="Text 9"/>
          <p:cNvSpPr/>
          <p:nvPr/>
        </p:nvSpPr>
        <p:spPr>
          <a:xfrm>
            <a:off x="9677995" y="3972878"/>
            <a:ext cx="4158615" cy="725805"/>
          </a:xfrm>
          <a:prstGeom prst="rect">
            <a:avLst/>
          </a:prstGeom>
          <a:noFill/>
          <a:ln/>
        </p:spPr>
        <p:txBody>
          <a:bodyPr wrap="square" lIns="0" tIns="0" rIns="0" bIns="0" rtlCol="0" anchor="t"/>
          <a:lstStyle/>
          <a:p>
            <a:pPr marL="0" indent="0" algn="ctr">
              <a:lnSpc>
                <a:spcPts val="2850"/>
              </a:lnSpc>
              <a:buNone/>
            </a:pPr>
            <a:r>
              <a:rPr lang="en-US" sz="1750" dirty="0">
                <a:solidFill>
                  <a:srgbClr val="161613"/>
                </a:solidFill>
                <a:latin typeface="Inter" pitchFamily="34" charset="0"/>
                <a:ea typeface="Inter" pitchFamily="34" charset="-122"/>
                <a:cs typeface="Inter" pitchFamily="34" charset="-120"/>
              </a:rPr>
              <a:t>Each email processed only once regardless of success/failure</a:t>
            </a:r>
            <a:endParaRPr lang="en-US" sz="1750" dirty="0"/>
          </a:p>
        </p:txBody>
      </p:sp>
      <p:sp>
        <p:nvSpPr>
          <p:cNvPr id="12" name="Text 10"/>
          <p:cNvSpPr/>
          <p:nvPr/>
        </p:nvSpPr>
        <p:spPr>
          <a:xfrm>
            <a:off x="793790" y="518064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Time Limits</a:t>
            </a:r>
            <a:endParaRPr lang="en-US" sz="2200" dirty="0"/>
          </a:p>
        </p:txBody>
      </p:sp>
      <p:sp>
        <p:nvSpPr>
          <p:cNvPr id="13" name="Text 11"/>
          <p:cNvSpPr/>
          <p:nvPr/>
        </p:nvSpPr>
        <p:spPr>
          <a:xfrm>
            <a:off x="793790" y="5761792"/>
            <a:ext cx="6244709" cy="1088708"/>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Processing time can be adjusted in the service file on the server side. Timeout errors occur if Azure services exceed 120 seconds.</a:t>
            </a:r>
            <a:endParaRPr lang="en-US" sz="1750" dirty="0"/>
          </a:p>
        </p:txBody>
      </p:sp>
      <p:sp>
        <p:nvSpPr>
          <p:cNvPr id="14" name="Text 12"/>
          <p:cNvSpPr/>
          <p:nvPr/>
        </p:nvSpPr>
        <p:spPr>
          <a:xfrm>
            <a:off x="7599521" y="518064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Processing Notes</a:t>
            </a:r>
            <a:endParaRPr lang="en-US" sz="2200" dirty="0"/>
          </a:p>
        </p:txBody>
      </p:sp>
      <p:sp>
        <p:nvSpPr>
          <p:cNvPr id="15" name="Text 13"/>
          <p:cNvSpPr/>
          <p:nvPr/>
        </p:nvSpPr>
        <p:spPr>
          <a:xfrm>
            <a:off x="7599521" y="5761792"/>
            <a:ext cx="6244709" cy="1088708"/>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Large invoice files take additional time to upload and process. Gunicorn server handles production workload efficiently.</a:t>
            </a:r>
            <a:endParaRPr lang="en-US" sz="1750" dirty="0"/>
          </a:p>
        </p:txBody>
      </p:sp>
      <p:sp>
        <p:nvSpPr>
          <p:cNvPr id="16" name="Rectangle 15">
            <a:extLst>
              <a:ext uri="{FF2B5EF4-FFF2-40B4-BE49-F238E27FC236}">
                <a16:creationId xmlns:a16="http://schemas.microsoft.com/office/drawing/2014/main" id="{87DE472B-8779-D0E1-23AF-3980C94FEE3D}"/>
              </a:ext>
            </a:extLst>
          </p:cNvPr>
          <p:cNvSpPr/>
          <p:nvPr/>
        </p:nvSpPr>
        <p:spPr>
          <a:xfrm>
            <a:off x="12748590" y="7686260"/>
            <a:ext cx="1881809" cy="543339"/>
          </a:xfrm>
          <a:prstGeom prst="rect">
            <a:avLst/>
          </a:prstGeom>
          <a:solidFill>
            <a:srgbClr val="F9F8F5"/>
          </a:solidFill>
          <a:ln>
            <a:solidFill>
              <a:srgbClr val="F9F8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23543" y="855702"/>
            <a:ext cx="5168146" cy="646033"/>
          </a:xfrm>
          <a:prstGeom prst="rect">
            <a:avLst/>
          </a:prstGeom>
          <a:noFill/>
          <a:ln/>
        </p:spPr>
        <p:txBody>
          <a:bodyPr wrap="none" lIns="0" tIns="0" rIns="0" bIns="0" rtlCol="0" anchor="t"/>
          <a:lstStyle/>
          <a:p>
            <a:pPr marL="0" indent="0" algn="l">
              <a:lnSpc>
                <a:spcPts val="5050"/>
              </a:lnSpc>
              <a:buNone/>
            </a:pPr>
            <a:r>
              <a:rPr lang="en-US" sz="4050" dirty="0">
                <a:solidFill>
                  <a:srgbClr val="161613"/>
                </a:solidFill>
                <a:latin typeface="DM Sans Medium" pitchFamily="34" charset="0"/>
                <a:ea typeface="DM Sans Medium" pitchFamily="34" charset="-122"/>
                <a:cs typeface="DM Sans Medium" pitchFamily="34" charset="-120"/>
              </a:rPr>
              <a:t>Current Limitations</a:t>
            </a:r>
            <a:endParaRPr lang="en-US" sz="4050" dirty="0"/>
          </a:p>
        </p:txBody>
      </p:sp>
      <p:sp>
        <p:nvSpPr>
          <p:cNvPr id="4" name="Shape 1"/>
          <p:cNvSpPr/>
          <p:nvPr/>
        </p:nvSpPr>
        <p:spPr>
          <a:xfrm>
            <a:off x="723543" y="1784271"/>
            <a:ext cx="7696914" cy="1842968"/>
          </a:xfrm>
          <a:prstGeom prst="roundRect">
            <a:avLst>
              <a:gd name="adj" fmla="val 5954"/>
            </a:avLst>
          </a:prstGeom>
          <a:solidFill>
            <a:srgbClr val="F9F8F5"/>
          </a:solidFill>
          <a:ln w="22860">
            <a:solidFill>
              <a:srgbClr val="D3D1C9"/>
            </a:solidFill>
            <a:prstDash val="solid"/>
          </a:ln>
        </p:spPr>
        <p:txBody>
          <a:bodyPr/>
          <a:lstStyle/>
          <a:p>
            <a:endParaRPr lang="en-IN"/>
          </a:p>
        </p:txBody>
      </p:sp>
      <p:sp>
        <p:nvSpPr>
          <p:cNvPr id="5" name="Shape 2"/>
          <p:cNvSpPr/>
          <p:nvPr/>
        </p:nvSpPr>
        <p:spPr>
          <a:xfrm>
            <a:off x="700683" y="1784271"/>
            <a:ext cx="91440" cy="1842968"/>
          </a:xfrm>
          <a:prstGeom prst="roundRect">
            <a:avLst>
              <a:gd name="adj" fmla="val 33912"/>
            </a:avLst>
          </a:prstGeom>
          <a:solidFill>
            <a:srgbClr val="28282F"/>
          </a:solidFill>
          <a:ln/>
        </p:spPr>
        <p:txBody>
          <a:bodyPr/>
          <a:lstStyle/>
          <a:p>
            <a:endParaRPr lang="en-IN"/>
          </a:p>
        </p:txBody>
      </p:sp>
      <p:sp>
        <p:nvSpPr>
          <p:cNvPr id="6" name="Text 3"/>
          <p:cNvSpPr/>
          <p:nvPr/>
        </p:nvSpPr>
        <p:spPr>
          <a:xfrm>
            <a:off x="1021675" y="2013823"/>
            <a:ext cx="3553063" cy="322898"/>
          </a:xfrm>
          <a:prstGeom prst="rect">
            <a:avLst/>
          </a:prstGeom>
          <a:noFill/>
          <a:ln/>
        </p:spPr>
        <p:txBody>
          <a:bodyPr wrap="none" lIns="0" tIns="0" rIns="0" bIns="0" rtlCol="0" anchor="t"/>
          <a:lstStyle/>
          <a:p>
            <a:pPr marL="0" indent="0" algn="l">
              <a:lnSpc>
                <a:spcPts val="2500"/>
              </a:lnSpc>
              <a:buNone/>
            </a:pPr>
            <a:r>
              <a:rPr lang="en-US" sz="2000" dirty="0">
                <a:solidFill>
                  <a:srgbClr val="161613"/>
                </a:solidFill>
                <a:latin typeface="DM Sans Medium" pitchFamily="34" charset="0"/>
                <a:ea typeface="DM Sans Medium" pitchFamily="34" charset="-122"/>
                <a:cs typeface="DM Sans Medium" pitchFamily="34" charset="-120"/>
              </a:rPr>
              <a:t>Single-Processing Constraint</a:t>
            </a:r>
            <a:endParaRPr lang="en-US" sz="2000" dirty="0"/>
          </a:p>
        </p:txBody>
      </p:sp>
      <p:sp>
        <p:nvSpPr>
          <p:cNvPr id="7" name="Text 4"/>
          <p:cNvSpPr/>
          <p:nvPr/>
        </p:nvSpPr>
        <p:spPr>
          <a:xfrm>
            <a:off x="1021675" y="2449711"/>
            <a:ext cx="7169229" cy="947976"/>
          </a:xfrm>
          <a:prstGeom prst="rect">
            <a:avLst/>
          </a:prstGeom>
          <a:noFill/>
          <a:ln/>
        </p:spPr>
        <p:txBody>
          <a:bodyPr wrap="square" lIns="0" tIns="0" rIns="0" bIns="0" rtlCol="0" anchor="t"/>
          <a:lstStyle/>
          <a:p>
            <a:pPr marL="0" indent="0" algn="l">
              <a:lnSpc>
                <a:spcPts val="2450"/>
              </a:lnSpc>
              <a:buNone/>
            </a:pPr>
            <a:r>
              <a:rPr lang="en-US" sz="1600" dirty="0">
                <a:solidFill>
                  <a:srgbClr val="161613"/>
                </a:solidFill>
                <a:latin typeface="Inter" pitchFamily="34" charset="0"/>
                <a:ea typeface="Inter" pitchFamily="34" charset="-122"/>
                <a:cs typeface="Inter" pitchFamily="34" charset="-120"/>
              </a:rPr>
              <a:t>Once an email is processed, the automation agent will not reprocess it—even if the initial attempt encountered errors. Manual intervention required for retry scenarios.</a:t>
            </a:r>
            <a:endParaRPr lang="en-US" sz="1600" dirty="0"/>
          </a:p>
        </p:txBody>
      </p:sp>
      <p:sp>
        <p:nvSpPr>
          <p:cNvPr id="8" name="Shape 5"/>
          <p:cNvSpPr/>
          <p:nvPr/>
        </p:nvSpPr>
        <p:spPr>
          <a:xfrm>
            <a:off x="723543" y="3815596"/>
            <a:ext cx="7696914" cy="1842968"/>
          </a:xfrm>
          <a:prstGeom prst="roundRect">
            <a:avLst>
              <a:gd name="adj" fmla="val 5954"/>
            </a:avLst>
          </a:prstGeom>
          <a:solidFill>
            <a:srgbClr val="F9F8F5"/>
          </a:solidFill>
          <a:ln w="22860">
            <a:solidFill>
              <a:srgbClr val="D3D1C9"/>
            </a:solidFill>
            <a:prstDash val="solid"/>
          </a:ln>
        </p:spPr>
        <p:txBody>
          <a:bodyPr/>
          <a:lstStyle/>
          <a:p>
            <a:endParaRPr lang="en-IN"/>
          </a:p>
        </p:txBody>
      </p:sp>
      <p:sp>
        <p:nvSpPr>
          <p:cNvPr id="9" name="Shape 6"/>
          <p:cNvSpPr/>
          <p:nvPr/>
        </p:nvSpPr>
        <p:spPr>
          <a:xfrm>
            <a:off x="700683" y="3815596"/>
            <a:ext cx="91440" cy="1842968"/>
          </a:xfrm>
          <a:prstGeom prst="roundRect">
            <a:avLst>
              <a:gd name="adj" fmla="val 33912"/>
            </a:avLst>
          </a:prstGeom>
          <a:solidFill>
            <a:srgbClr val="28282F"/>
          </a:solidFill>
          <a:ln/>
        </p:spPr>
        <p:txBody>
          <a:bodyPr/>
          <a:lstStyle/>
          <a:p>
            <a:endParaRPr lang="en-IN"/>
          </a:p>
        </p:txBody>
      </p:sp>
      <p:sp>
        <p:nvSpPr>
          <p:cNvPr id="10" name="Text 7"/>
          <p:cNvSpPr/>
          <p:nvPr/>
        </p:nvSpPr>
        <p:spPr>
          <a:xfrm>
            <a:off x="1021675" y="4045148"/>
            <a:ext cx="2736413" cy="322898"/>
          </a:xfrm>
          <a:prstGeom prst="rect">
            <a:avLst/>
          </a:prstGeom>
          <a:noFill/>
          <a:ln/>
        </p:spPr>
        <p:txBody>
          <a:bodyPr wrap="none" lIns="0" tIns="0" rIns="0" bIns="0" rtlCol="0" anchor="t"/>
          <a:lstStyle/>
          <a:p>
            <a:pPr marL="0" indent="0" algn="l">
              <a:lnSpc>
                <a:spcPts val="2500"/>
              </a:lnSpc>
              <a:buNone/>
            </a:pPr>
            <a:r>
              <a:rPr lang="en-US" sz="2000" dirty="0">
                <a:solidFill>
                  <a:srgbClr val="161613"/>
                </a:solidFill>
                <a:latin typeface="DM Sans Medium" pitchFamily="34" charset="0"/>
                <a:ea typeface="DM Sans Medium" pitchFamily="34" charset="-122"/>
                <a:cs typeface="DM Sans Medium" pitchFamily="34" charset="-120"/>
              </a:rPr>
              <a:t>Timeout Configuration</a:t>
            </a:r>
            <a:endParaRPr lang="en-US" sz="2000" dirty="0"/>
          </a:p>
        </p:txBody>
      </p:sp>
      <p:sp>
        <p:nvSpPr>
          <p:cNvPr id="11" name="Text 8"/>
          <p:cNvSpPr/>
          <p:nvPr/>
        </p:nvSpPr>
        <p:spPr>
          <a:xfrm>
            <a:off x="1021675" y="4481036"/>
            <a:ext cx="7169229" cy="947976"/>
          </a:xfrm>
          <a:prstGeom prst="rect">
            <a:avLst/>
          </a:prstGeom>
          <a:noFill/>
          <a:ln/>
        </p:spPr>
        <p:txBody>
          <a:bodyPr wrap="square" lIns="0" tIns="0" rIns="0" bIns="0" rtlCol="0" anchor="t"/>
          <a:lstStyle/>
          <a:p>
            <a:pPr marL="0" indent="0" algn="l">
              <a:lnSpc>
                <a:spcPts val="2450"/>
              </a:lnSpc>
              <a:buNone/>
            </a:pPr>
            <a:r>
              <a:rPr lang="en-US" sz="1600" dirty="0">
                <a:solidFill>
                  <a:srgbClr val="161613"/>
                </a:solidFill>
                <a:latin typeface="Inter" pitchFamily="34" charset="0"/>
                <a:ea typeface="Inter" pitchFamily="34" charset="-122"/>
                <a:cs typeface="Inter" pitchFamily="34" charset="-120"/>
              </a:rPr>
              <a:t>Default 120-second timeout may not accommodate very large invoice files. Server configuration file adjustments required to increase processing window.</a:t>
            </a:r>
            <a:endParaRPr lang="en-US" sz="1600" dirty="0"/>
          </a:p>
        </p:txBody>
      </p:sp>
      <p:sp>
        <p:nvSpPr>
          <p:cNvPr id="12" name="Shape 9"/>
          <p:cNvSpPr/>
          <p:nvPr/>
        </p:nvSpPr>
        <p:spPr>
          <a:xfrm>
            <a:off x="723543" y="5846921"/>
            <a:ext cx="7696914" cy="1526977"/>
          </a:xfrm>
          <a:prstGeom prst="roundRect">
            <a:avLst>
              <a:gd name="adj" fmla="val 7186"/>
            </a:avLst>
          </a:prstGeom>
          <a:solidFill>
            <a:srgbClr val="F9F8F5"/>
          </a:solidFill>
          <a:ln w="22860">
            <a:solidFill>
              <a:srgbClr val="D3D1C9"/>
            </a:solidFill>
            <a:prstDash val="solid"/>
          </a:ln>
        </p:spPr>
        <p:txBody>
          <a:bodyPr/>
          <a:lstStyle/>
          <a:p>
            <a:endParaRPr lang="en-IN"/>
          </a:p>
        </p:txBody>
      </p:sp>
      <p:sp>
        <p:nvSpPr>
          <p:cNvPr id="13" name="Shape 10"/>
          <p:cNvSpPr/>
          <p:nvPr/>
        </p:nvSpPr>
        <p:spPr>
          <a:xfrm>
            <a:off x="700683" y="5846921"/>
            <a:ext cx="91440" cy="1526977"/>
          </a:xfrm>
          <a:prstGeom prst="roundRect">
            <a:avLst>
              <a:gd name="adj" fmla="val 33912"/>
            </a:avLst>
          </a:prstGeom>
          <a:solidFill>
            <a:srgbClr val="28282F"/>
          </a:solidFill>
          <a:ln/>
        </p:spPr>
        <p:txBody>
          <a:bodyPr/>
          <a:lstStyle/>
          <a:p>
            <a:endParaRPr lang="en-IN"/>
          </a:p>
        </p:txBody>
      </p:sp>
      <p:sp>
        <p:nvSpPr>
          <p:cNvPr id="14" name="Text 11"/>
          <p:cNvSpPr/>
          <p:nvPr/>
        </p:nvSpPr>
        <p:spPr>
          <a:xfrm>
            <a:off x="1021675" y="6076474"/>
            <a:ext cx="2584013" cy="322898"/>
          </a:xfrm>
          <a:prstGeom prst="rect">
            <a:avLst/>
          </a:prstGeom>
          <a:noFill/>
          <a:ln/>
        </p:spPr>
        <p:txBody>
          <a:bodyPr wrap="none" lIns="0" tIns="0" rIns="0" bIns="0" rtlCol="0" anchor="t"/>
          <a:lstStyle/>
          <a:p>
            <a:pPr marL="0" indent="0" algn="l">
              <a:lnSpc>
                <a:spcPts val="2500"/>
              </a:lnSpc>
              <a:buNone/>
            </a:pPr>
            <a:r>
              <a:rPr lang="en-US" sz="2000" dirty="0">
                <a:solidFill>
                  <a:srgbClr val="161613"/>
                </a:solidFill>
                <a:latin typeface="DM Sans Medium" pitchFamily="34" charset="0"/>
                <a:ea typeface="DM Sans Medium" pitchFamily="34" charset="-122"/>
                <a:cs typeface="DM Sans Medium" pitchFamily="34" charset="-120"/>
              </a:rPr>
              <a:t>Static Credentials</a:t>
            </a:r>
            <a:endParaRPr lang="en-US" sz="2000" dirty="0"/>
          </a:p>
        </p:txBody>
      </p:sp>
      <p:sp>
        <p:nvSpPr>
          <p:cNvPr id="15" name="Text 12"/>
          <p:cNvSpPr/>
          <p:nvPr/>
        </p:nvSpPr>
        <p:spPr>
          <a:xfrm>
            <a:off x="1021675" y="6512362"/>
            <a:ext cx="7169229" cy="631984"/>
          </a:xfrm>
          <a:prstGeom prst="rect">
            <a:avLst/>
          </a:prstGeom>
          <a:noFill/>
          <a:ln/>
        </p:spPr>
        <p:txBody>
          <a:bodyPr wrap="square" lIns="0" tIns="0" rIns="0" bIns="0" rtlCol="0" anchor="t"/>
          <a:lstStyle/>
          <a:p>
            <a:pPr marL="0" indent="0" algn="l">
              <a:lnSpc>
                <a:spcPts val="2450"/>
              </a:lnSpc>
              <a:buNone/>
            </a:pPr>
            <a:r>
              <a:rPr lang="en-US" sz="1600" dirty="0">
                <a:solidFill>
                  <a:srgbClr val="161613"/>
                </a:solidFill>
                <a:latin typeface="Inter" pitchFamily="34" charset="0"/>
                <a:ea typeface="Inter" pitchFamily="34" charset="-122"/>
                <a:cs typeface="Inter" pitchFamily="34" charset="-120"/>
              </a:rPr>
              <a:t>Platform login credentials are statically stored in login.ini file. API keys and URLs defined in .env file require server access for updates.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375927" y="193332"/>
            <a:ext cx="4788337" cy="598527"/>
          </a:xfrm>
          <a:prstGeom prst="rect">
            <a:avLst/>
          </a:prstGeom>
          <a:noFill/>
          <a:ln/>
        </p:spPr>
        <p:txBody>
          <a:bodyPr wrap="none" lIns="0" tIns="0" rIns="0" bIns="0" rtlCol="0" anchor="t"/>
          <a:lstStyle/>
          <a:p>
            <a:pPr>
              <a:lnSpc>
                <a:spcPts val="4700"/>
              </a:lnSpc>
            </a:pPr>
            <a:r>
              <a:rPr lang="en-US" sz="3750" b="1" dirty="0">
                <a:solidFill>
                  <a:srgbClr val="161613"/>
                </a:solidFill>
                <a:latin typeface="DM Sans Medium" pitchFamily="34" charset="0"/>
              </a:rPr>
              <a:t>DCC Automation Login Screen</a:t>
            </a:r>
            <a:endParaRPr lang="en-US" sz="3750" b="1" dirty="0"/>
          </a:p>
        </p:txBody>
      </p:sp>
      <p:pic>
        <p:nvPicPr>
          <p:cNvPr id="21" name="Picture 20">
            <a:extLst>
              <a:ext uri="{FF2B5EF4-FFF2-40B4-BE49-F238E27FC236}">
                <a16:creationId xmlns:a16="http://schemas.microsoft.com/office/drawing/2014/main" id="{48A645E6-0633-8FAA-5758-1279756E0CC2}"/>
              </a:ext>
            </a:extLst>
          </p:cNvPr>
          <p:cNvPicPr>
            <a:picLocks noChangeAspect="1"/>
          </p:cNvPicPr>
          <p:nvPr/>
        </p:nvPicPr>
        <p:blipFill>
          <a:blip r:embed="rId3"/>
          <a:stretch>
            <a:fillRect/>
          </a:stretch>
        </p:blipFill>
        <p:spPr>
          <a:xfrm>
            <a:off x="2556798" y="1130942"/>
            <a:ext cx="9516803" cy="6630325"/>
          </a:xfrm>
          <a:prstGeom prst="rect">
            <a:avLst/>
          </a:prstGeom>
        </p:spPr>
      </p:pic>
      <p:sp>
        <p:nvSpPr>
          <p:cNvPr id="22" name="Rectangle 21">
            <a:extLst>
              <a:ext uri="{FF2B5EF4-FFF2-40B4-BE49-F238E27FC236}">
                <a16:creationId xmlns:a16="http://schemas.microsoft.com/office/drawing/2014/main" id="{B06769CB-525E-B5D7-0BC1-26845FEF0B1E}"/>
              </a:ext>
            </a:extLst>
          </p:cNvPr>
          <p:cNvSpPr/>
          <p:nvPr/>
        </p:nvSpPr>
        <p:spPr>
          <a:xfrm>
            <a:off x="12748590" y="7686260"/>
            <a:ext cx="1881809" cy="543339"/>
          </a:xfrm>
          <a:prstGeom prst="rect">
            <a:avLst/>
          </a:prstGeom>
          <a:solidFill>
            <a:srgbClr val="F9F8F5"/>
          </a:solidFill>
          <a:ln>
            <a:solidFill>
              <a:srgbClr val="F9F8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34023-A4DD-8C9B-3315-08FF2BDDB43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8191C3F-EE52-937D-C94B-8214133A941A}"/>
              </a:ext>
            </a:extLst>
          </p:cNvPr>
          <p:cNvSpPr/>
          <p:nvPr/>
        </p:nvSpPr>
        <p:spPr>
          <a:xfrm>
            <a:off x="375927" y="193332"/>
            <a:ext cx="6660977" cy="598527"/>
          </a:xfrm>
          <a:prstGeom prst="rect">
            <a:avLst/>
          </a:prstGeom>
          <a:noFill/>
          <a:ln/>
        </p:spPr>
        <p:txBody>
          <a:bodyPr wrap="none" lIns="0" tIns="0" rIns="0" bIns="0" rtlCol="0" anchor="t"/>
          <a:lstStyle/>
          <a:p>
            <a:pPr>
              <a:lnSpc>
                <a:spcPts val="4700"/>
              </a:lnSpc>
            </a:pPr>
            <a:r>
              <a:rPr lang="en-US" sz="3750" b="1" dirty="0">
                <a:solidFill>
                  <a:srgbClr val="161613"/>
                </a:solidFill>
                <a:latin typeface="DM Sans Medium" pitchFamily="34" charset="0"/>
              </a:rPr>
              <a:t>DCC Automation Control Screen</a:t>
            </a:r>
            <a:endParaRPr lang="en-US" sz="3750" b="1" dirty="0"/>
          </a:p>
        </p:txBody>
      </p:sp>
      <p:pic>
        <p:nvPicPr>
          <p:cNvPr id="14" name="Picture 13">
            <a:extLst>
              <a:ext uri="{FF2B5EF4-FFF2-40B4-BE49-F238E27FC236}">
                <a16:creationId xmlns:a16="http://schemas.microsoft.com/office/drawing/2014/main" id="{D489614A-D100-67F3-E10A-81AA70789485}"/>
              </a:ext>
            </a:extLst>
          </p:cNvPr>
          <p:cNvPicPr>
            <a:picLocks noChangeAspect="1"/>
          </p:cNvPicPr>
          <p:nvPr/>
        </p:nvPicPr>
        <p:blipFill>
          <a:blip r:embed="rId3"/>
          <a:stretch>
            <a:fillRect/>
          </a:stretch>
        </p:blipFill>
        <p:spPr>
          <a:xfrm>
            <a:off x="2437719" y="1009788"/>
            <a:ext cx="9754961" cy="6925642"/>
          </a:xfrm>
          <a:prstGeom prst="rect">
            <a:avLst/>
          </a:prstGeom>
        </p:spPr>
      </p:pic>
      <p:sp>
        <p:nvSpPr>
          <p:cNvPr id="15" name="Rectangle 14">
            <a:extLst>
              <a:ext uri="{FF2B5EF4-FFF2-40B4-BE49-F238E27FC236}">
                <a16:creationId xmlns:a16="http://schemas.microsoft.com/office/drawing/2014/main" id="{D5A3A4F5-74CC-69A4-D7BF-ECA7592F8FBB}"/>
              </a:ext>
            </a:extLst>
          </p:cNvPr>
          <p:cNvSpPr/>
          <p:nvPr/>
        </p:nvSpPr>
        <p:spPr>
          <a:xfrm>
            <a:off x="12748590" y="7686260"/>
            <a:ext cx="1881809" cy="543339"/>
          </a:xfrm>
          <a:prstGeom prst="rect">
            <a:avLst/>
          </a:prstGeom>
          <a:solidFill>
            <a:srgbClr val="F9F8F5"/>
          </a:solidFill>
          <a:ln>
            <a:solidFill>
              <a:srgbClr val="F9F8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8160076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E5E6A-A587-7937-5E30-4B348FF3F4B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0CE91D8-55DA-BCA4-4A5A-7BE7A359DC12}"/>
              </a:ext>
            </a:extLst>
          </p:cNvPr>
          <p:cNvSpPr/>
          <p:nvPr/>
        </p:nvSpPr>
        <p:spPr>
          <a:xfrm>
            <a:off x="375927" y="193332"/>
            <a:ext cx="4788337" cy="598527"/>
          </a:xfrm>
          <a:prstGeom prst="rect">
            <a:avLst/>
          </a:prstGeom>
          <a:noFill/>
          <a:ln/>
        </p:spPr>
        <p:txBody>
          <a:bodyPr wrap="none" lIns="0" tIns="0" rIns="0" bIns="0" rtlCol="0" anchor="t"/>
          <a:lstStyle/>
          <a:p>
            <a:pPr>
              <a:lnSpc>
                <a:spcPts val="4700"/>
              </a:lnSpc>
            </a:pPr>
            <a:r>
              <a:rPr lang="en-US" sz="3750" b="1" dirty="0">
                <a:solidFill>
                  <a:srgbClr val="161613"/>
                </a:solidFill>
                <a:latin typeface="DM Sans Medium" pitchFamily="34" charset="0"/>
              </a:rPr>
              <a:t>DCC Automation View Logs Screen</a:t>
            </a:r>
            <a:endParaRPr lang="en-US" sz="3750" b="1" dirty="0"/>
          </a:p>
        </p:txBody>
      </p:sp>
      <p:pic>
        <p:nvPicPr>
          <p:cNvPr id="6" name="Picture 5">
            <a:extLst>
              <a:ext uri="{FF2B5EF4-FFF2-40B4-BE49-F238E27FC236}">
                <a16:creationId xmlns:a16="http://schemas.microsoft.com/office/drawing/2014/main" id="{968E84AB-904E-2A96-D2B9-37E3E53500D2}"/>
              </a:ext>
            </a:extLst>
          </p:cNvPr>
          <p:cNvPicPr>
            <a:picLocks noChangeAspect="1"/>
          </p:cNvPicPr>
          <p:nvPr/>
        </p:nvPicPr>
        <p:blipFill>
          <a:blip r:embed="rId3"/>
          <a:stretch>
            <a:fillRect/>
          </a:stretch>
        </p:blipFill>
        <p:spPr>
          <a:xfrm>
            <a:off x="622852" y="997027"/>
            <a:ext cx="13596731" cy="6739128"/>
          </a:xfrm>
          <a:prstGeom prst="rect">
            <a:avLst/>
          </a:prstGeom>
        </p:spPr>
      </p:pic>
      <p:sp>
        <p:nvSpPr>
          <p:cNvPr id="7" name="Rectangle 6">
            <a:extLst>
              <a:ext uri="{FF2B5EF4-FFF2-40B4-BE49-F238E27FC236}">
                <a16:creationId xmlns:a16="http://schemas.microsoft.com/office/drawing/2014/main" id="{CBD946C0-9A66-037A-085A-9B35AA4E43BE}"/>
              </a:ext>
            </a:extLst>
          </p:cNvPr>
          <p:cNvSpPr/>
          <p:nvPr/>
        </p:nvSpPr>
        <p:spPr>
          <a:xfrm>
            <a:off x="12748590" y="7736155"/>
            <a:ext cx="1881809" cy="493444"/>
          </a:xfrm>
          <a:prstGeom prst="rect">
            <a:avLst/>
          </a:prstGeom>
          <a:solidFill>
            <a:srgbClr val="F9F8F5"/>
          </a:solidFill>
          <a:ln>
            <a:solidFill>
              <a:srgbClr val="F9F8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9440438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5DFDD-2644-8732-96C6-8289597554F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3BA7EA3-0BE6-9E16-EA54-0BE0AB91FB37}"/>
              </a:ext>
            </a:extLst>
          </p:cNvPr>
          <p:cNvPicPr>
            <a:picLocks noChangeAspect="1"/>
          </p:cNvPicPr>
          <p:nvPr/>
        </p:nvPicPr>
        <p:blipFill>
          <a:blip r:embed="rId3"/>
          <a:stretch>
            <a:fillRect/>
          </a:stretch>
        </p:blipFill>
        <p:spPr>
          <a:xfrm>
            <a:off x="463826" y="1101852"/>
            <a:ext cx="13808765" cy="6025896"/>
          </a:xfrm>
          <a:prstGeom prst="rect">
            <a:avLst/>
          </a:prstGeom>
        </p:spPr>
      </p:pic>
      <p:sp>
        <p:nvSpPr>
          <p:cNvPr id="5" name="Text 0">
            <a:extLst>
              <a:ext uri="{FF2B5EF4-FFF2-40B4-BE49-F238E27FC236}">
                <a16:creationId xmlns:a16="http://schemas.microsoft.com/office/drawing/2014/main" id="{C973F74C-2010-EA05-482E-D484C3B2A703}"/>
              </a:ext>
            </a:extLst>
          </p:cNvPr>
          <p:cNvSpPr/>
          <p:nvPr/>
        </p:nvSpPr>
        <p:spPr>
          <a:xfrm>
            <a:off x="375927" y="193332"/>
            <a:ext cx="4788337" cy="598527"/>
          </a:xfrm>
          <a:prstGeom prst="rect">
            <a:avLst/>
          </a:prstGeom>
          <a:noFill/>
          <a:ln/>
        </p:spPr>
        <p:txBody>
          <a:bodyPr wrap="none" lIns="0" tIns="0" rIns="0" bIns="0" rtlCol="0" anchor="t"/>
          <a:lstStyle/>
          <a:p>
            <a:pPr>
              <a:lnSpc>
                <a:spcPts val="4700"/>
              </a:lnSpc>
            </a:pPr>
            <a:r>
              <a:rPr lang="en-US" sz="3750" b="1" dirty="0">
                <a:solidFill>
                  <a:srgbClr val="161613"/>
                </a:solidFill>
                <a:latin typeface="DM Sans Medium" pitchFamily="34" charset="0"/>
              </a:rPr>
              <a:t>Processed  Emails Logs</a:t>
            </a:r>
            <a:endParaRPr lang="en-US" sz="3750" b="1" dirty="0"/>
          </a:p>
        </p:txBody>
      </p:sp>
      <p:sp>
        <p:nvSpPr>
          <p:cNvPr id="6" name="Rectangle 5">
            <a:extLst>
              <a:ext uri="{FF2B5EF4-FFF2-40B4-BE49-F238E27FC236}">
                <a16:creationId xmlns:a16="http://schemas.microsoft.com/office/drawing/2014/main" id="{0FEC1358-0638-3327-7939-17AF95D70A44}"/>
              </a:ext>
            </a:extLst>
          </p:cNvPr>
          <p:cNvSpPr/>
          <p:nvPr/>
        </p:nvSpPr>
        <p:spPr>
          <a:xfrm>
            <a:off x="12748590" y="7686260"/>
            <a:ext cx="1881809" cy="543339"/>
          </a:xfrm>
          <a:prstGeom prst="rect">
            <a:avLst/>
          </a:prstGeom>
          <a:solidFill>
            <a:srgbClr val="F9F8F5"/>
          </a:solidFill>
          <a:ln>
            <a:solidFill>
              <a:srgbClr val="F9F8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0466351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C1D27-C919-2144-0564-A448D8F3638E}"/>
            </a:ext>
          </a:extLst>
        </p:cNvPr>
        <p:cNvGrpSpPr/>
        <p:nvPr/>
      </p:nvGrpSpPr>
      <p:grpSpPr>
        <a:xfrm>
          <a:off x="0" y="0"/>
          <a:ext cx="0" cy="0"/>
          <a:chOff x="0" y="0"/>
          <a:chExt cx="0" cy="0"/>
        </a:xfrm>
      </p:grpSpPr>
      <p:sp>
        <p:nvSpPr>
          <p:cNvPr id="5" name="Text 0">
            <a:extLst>
              <a:ext uri="{FF2B5EF4-FFF2-40B4-BE49-F238E27FC236}">
                <a16:creationId xmlns:a16="http://schemas.microsoft.com/office/drawing/2014/main" id="{33A37737-76E0-E246-B64E-FF5400A0CA0D}"/>
              </a:ext>
            </a:extLst>
          </p:cNvPr>
          <p:cNvSpPr/>
          <p:nvPr/>
        </p:nvSpPr>
        <p:spPr>
          <a:xfrm>
            <a:off x="375927" y="193332"/>
            <a:ext cx="4788337" cy="598527"/>
          </a:xfrm>
          <a:prstGeom prst="rect">
            <a:avLst/>
          </a:prstGeom>
          <a:noFill/>
          <a:ln/>
        </p:spPr>
        <p:txBody>
          <a:bodyPr wrap="none" lIns="0" tIns="0" rIns="0" bIns="0" rtlCol="0" anchor="t"/>
          <a:lstStyle/>
          <a:p>
            <a:pPr>
              <a:lnSpc>
                <a:spcPts val="4700"/>
              </a:lnSpc>
            </a:pPr>
            <a:r>
              <a:rPr lang="en-US" sz="3750" b="1" dirty="0">
                <a:solidFill>
                  <a:srgbClr val="161613"/>
                </a:solidFill>
                <a:latin typeface="DM Sans Medium" pitchFamily="34" charset="0"/>
              </a:rPr>
              <a:t>.env Configuration</a:t>
            </a:r>
            <a:endParaRPr lang="en-US" sz="3750" b="1" dirty="0"/>
          </a:p>
        </p:txBody>
      </p:sp>
      <p:sp>
        <p:nvSpPr>
          <p:cNvPr id="6" name="Rectangle 5">
            <a:extLst>
              <a:ext uri="{FF2B5EF4-FFF2-40B4-BE49-F238E27FC236}">
                <a16:creationId xmlns:a16="http://schemas.microsoft.com/office/drawing/2014/main" id="{E8B9FDDD-1C31-D5AE-C9E2-2505671F1610}"/>
              </a:ext>
            </a:extLst>
          </p:cNvPr>
          <p:cNvSpPr/>
          <p:nvPr/>
        </p:nvSpPr>
        <p:spPr>
          <a:xfrm>
            <a:off x="12748590" y="7686260"/>
            <a:ext cx="1881809" cy="543339"/>
          </a:xfrm>
          <a:prstGeom prst="rect">
            <a:avLst/>
          </a:prstGeom>
          <a:solidFill>
            <a:srgbClr val="F9F8F5"/>
          </a:solidFill>
          <a:ln>
            <a:solidFill>
              <a:srgbClr val="F9F8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0">
            <a:extLst>
              <a:ext uri="{FF2B5EF4-FFF2-40B4-BE49-F238E27FC236}">
                <a16:creationId xmlns:a16="http://schemas.microsoft.com/office/drawing/2014/main" id="{5A953D7B-C42C-C62C-27AC-55A08A32B8A4}"/>
              </a:ext>
            </a:extLst>
          </p:cNvPr>
          <p:cNvSpPr/>
          <p:nvPr/>
        </p:nvSpPr>
        <p:spPr>
          <a:xfrm>
            <a:off x="4677801" y="193331"/>
            <a:ext cx="4788337" cy="598527"/>
          </a:xfrm>
          <a:prstGeom prst="rect">
            <a:avLst/>
          </a:prstGeom>
          <a:noFill/>
          <a:ln/>
        </p:spPr>
        <p:txBody>
          <a:bodyPr wrap="none" lIns="0" tIns="0" rIns="0" bIns="0" rtlCol="0" anchor="t"/>
          <a:lstStyle/>
          <a:p>
            <a:pPr>
              <a:lnSpc>
                <a:spcPts val="4700"/>
              </a:lnSpc>
            </a:pPr>
            <a:r>
              <a:rPr lang="en-US" sz="2400" u="sng" dirty="0">
                <a:solidFill>
                  <a:schemeClr val="accent5"/>
                </a:solidFill>
                <a:latin typeface="DM Sans Medium" pitchFamily="34" charset="0"/>
              </a:rPr>
              <a:t>URL: /env-configuration</a:t>
            </a:r>
            <a:endParaRPr lang="en-US" sz="2400" u="sng" dirty="0">
              <a:solidFill>
                <a:schemeClr val="accent5"/>
              </a:solidFill>
            </a:endParaRPr>
          </a:p>
        </p:txBody>
      </p:sp>
      <p:pic>
        <p:nvPicPr>
          <p:cNvPr id="7" name="Picture 6">
            <a:extLst>
              <a:ext uri="{FF2B5EF4-FFF2-40B4-BE49-F238E27FC236}">
                <a16:creationId xmlns:a16="http://schemas.microsoft.com/office/drawing/2014/main" id="{CE2D01CB-BB33-C927-13C8-1E47B7014E8C}"/>
              </a:ext>
            </a:extLst>
          </p:cNvPr>
          <p:cNvPicPr>
            <a:picLocks noChangeAspect="1"/>
          </p:cNvPicPr>
          <p:nvPr/>
        </p:nvPicPr>
        <p:blipFill>
          <a:blip r:embed="rId3"/>
          <a:stretch>
            <a:fillRect/>
          </a:stretch>
        </p:blipFill>
        <p:spPr>
          <a:xfrm>
            <a:off x="375927" y="1007165"/>
            <a:ext cx="13896664" cy="6820099"/>
          </a:xfrm>
          <a:prstGeom prst="rect">
            <a:avLst/>
          </a:prstGeom>
        </p:spPr>
      </p:pic>
    </p:spTree>
    <p:extLst>
      <p:ext uri="{BB962C8B-B14F-4D97-AF65-F5344CB8AC3E}">
        <p14:creationId xmlns:p14="http://schemas.microsoft.com/office/powerpoint/2010/main" val="22613917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4EDFE-85DE-0A90-DAD8-1810BF857723}"/>
            </a:ext>
          </a:extLst>
        </p:cNvPr>
        <p:cNvGrpSpPr/>
        <p:nvPr/>
      </p:nvGrpSpPr>
      <p:grpSpPr>
        <a:xfrm>
          <a:off x="0" y="0"/>
          <a:ext cx="0" cy="0"/>
          <a:chOff x="0" y="0"/>
          <a:chExt cx="0" cy="0"/>
        </a:xfrm>
      </p:grpSpPr>
      <p:sp>
        <p:nvSpPr>
          <p:cNvPr id="5" name="Text 0">
            <a:extLst>
              <a:ext uri="{FF2B5EF4-FFF2-40B4-BE49-F238E27FC236}">
                <a16:creationId xmlns:a16="http://schemas.microsoft.com/office/drawing/2014/main" id="{F6638550-F16A-BA53-18AD-A9D982A020C7}"/>
              </a:ext>
            </a:extLst>
          </p:cNvPr>
          <p:cNvSpPr/>
          <p:nvPr/>
        </p:nvSpPr>
        <p:spPr>
          <a:xfrm>
            <a:off x="375927" y="193332"/>
            <a:ext cx="4788337" cy="598527"/>
          </a:xfrm>
          <a:prstGeom prst="rect">
            <a:avLst/>
          </a:prstGeom>
          <a:noFill/>
          <a:ln/>
        </p:spPr>
        <p:txBody>
          <a:bodyPr wrap="none" lIns="0" tIns="0" rIns="0" bIns="0" rtlCol="0" anchor="t"/>
          <a:lstStyle/>
          <a:p>
            <a:pPr marL="571500" indent="-571500">
              <a:buFont typeface="Wingdings" panose="05000000000000000000" pitchFamily="2" charset="2"/>
              <a:buChar char="q"/>
            </a:pPr>
            <a:r>
              <a:rPr lang="en-IN" sz="3600" b="1" u="sng" dirty="0"/>
              <a:t>Software Requirements:</a:t>
            </a:r>
            <a:endParaRPr lang="en-IN" sz="3600" u="sng" dirty="0"/>
          </a:p>
        </p:txBody>
      </p:sp>
      <p:sp>
        <p:nvSpPr>
          <p:cNvPr id="6" name="Rectangle 5">
            <a:extLst>
              <a:ext uri="{FF2B5EF4-FFF2-40B4-BE49-F238E27FC236}">
                <a16:creationId xmlns:a16="http://schemas.microsoft.com/office/drawing/2014/main" id="{261BE02C-FAFB-2754-1918-E14DF52FB870}"/>
              </a:ext>
            </a:extLst>
          </p:cNvPr>
          <p:cNvSpPr/>
          <p:nvPr/>
        </p:nvSpPr>
        <p:spPr>
          <a:xfrm>
            <a:off x="12748590" y="7686260"/>
            <a:ext cx="1881809" cy="543339"/>
          </a:xfrm>
          <a:prstGeom prst="rect">
            <a:avLst/>
          </a:prstGeom>
          <a:solidFill>
            <a:srgbClr val="F9F8F5"/>
          </a:solidFill>
          <a:ln>
            <a:solidFill>
              <a:srgbClr val="F9F8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C0DCC460-4F2B-9F54-3E9C-CC5F10F97663}"/>
              </a:ext>
            </a:extLst>
          </p:cNvPr>
          <p:cNvSpPr txBox="1"/>
          <p:nvPr/>
        </p:nvSpPr>
        <p:spPr>
          <a:xfrm>
            <a:off x="2925417" y="1680127"/>
            <a:ext cx="9372600" cy="4869346"/>
          </a:xfrm>
          <a:prstGeom prst="rect">
            <a:avLst/>
          </a:prstGeom>
          <a:noFill/>
        </p:spPr>
        <p:txBody>
          <a:bodyPr wrap="square">
            <a:spAutoFit/>
          </a:bodyPr>
          <a:lstStyle/>
          <a:p>
            <a:r>
              <a:rPr lang="en-IN" sz="2800" b="1" u="sng" dirty="0"/>
              <a:t>Ensure the following packages are installed on the server: </a:t>
            </a:r>
          </a:p>
          <a:p>
            <a:endParaRPr lang="en-IN" dirty="0"/>
          </a:p>
          <a:p>
            <a:pPr marL="285750" indent="-285750">
              <a:lnSpc>
                <a:spcPct val="150000"/>
              </a:lnSpc>
              <a:buFont typeface="Wingdings" panose="05000000000000000000" pitchFamily="2" charset="2"/>
              <a:buChar char="Ø"/>
            </a:pPr>
            <a:r>
              <a:rPr lang="en-IN" sz="3600" dirty="0"/>
              <a:t> Python 3.13.7 </a:t>
            </a:r>
          </a:p>
          <a:p>
            <a:pPr marL="285750" indent="-285750">
              <a:lnSpc>
                <a:spcPct val="150000"/>
              </a:lnSpc>
              <a:buFont typeface="Wingdings" panose="05000000000000000000" pitchFamily="2" charset="2"/>
              <a:buChar char="Ø"/>
            </a:pPr>
            <a:r>
              <a:rPr lang="en-IN" sz="3600" dirty="0"/>
              <a:t> pip &amp; </a:t>
            </a:r>
            <a:r>
              <a:rPr lang="en-IN" sz="3600" dirty="0" err="1"/>
              <a:t>virtualenv</a:t>
            </a:r>
            <a:r>
              <a:rPr lang="en-IN" sz="3600" dirty="0"/>
              <a:t> </a:t>
            </a:r>
          </a:p>
          <a:p>
            <a:pPr marL="285750" indent="-285750">
              <a:lnSpc>
                <a:spcPct val="150000"/>
              </a:lnSpc>
              <a:buFont typeface="Wingdings" panose="05000000000000000000" pitchFamily="2" charset="2"/>
              <a:buChar char="Ø"/>
            </a:pPr>
            <a:r>
              <a:rPr lang="en-IN" sz="3600" dirty="0"/>
              <a:t> </a:t>
            </a:r>
            <a:r>
              <a:rPr lang="en-IN" sz="3600" dirty="0" err="1"/>
              <a:t>Gunicorn</a:t>
            </a:r>
            <a:r>
              <a:rPr lang="en-IN" sz="3600" dirty="0"/>
              <a:t> </a:t>
            </a:r>
          </a:p>
          <a:p>
            <a:pPr marL="285750" indent="-285750">
              <a:lnSpc>
                <a:spcPct val="150000"/>
              </a:lnSpc>
              <a:buFont typeface="Wingdings" panose="05000000000000000000" pitchFamily="2" charset="2"/>
              <a:buChar char="Ø"/>
            </a:pPr>
            <a:r>
              <a:rPr lang="en-IN" sz="3600" dirty="0"/>
              <a:t> </a:t>
            </a:r>
            <a:r>
              <a:rPr lang="en-IN" sz="3600" dirty="0" err="1"/>
              <a:t>poppler</a:t>
            </a:r>
            <a:r>
              <a:rPr lang="en-IN" sz="3600" dirty="0"/>
              <a:t>-utils </a:t>
            </a:r>
          </a:p>
          <a:p>
            <a:pPr marL="285750" indent="-285750">
              <a:lnSpc>
                <a:spcPct val="150000"/>
              </a:lnSpc>
              <a:buFont typeface="Wingdings" panose="05000000000000000000" pitchFamily="2" charset="2"/>
              <a:buChar char="Ø"/>
            </a:pPr>
            <a:r>
              <a:rPr lang="en-IN" sz="3600" dirty="0"/>
              <a:t> libzbar0t64</a:t>
            </a:r>
          </a:p>
        </p:txBody>
      </p:sp>
    </p:spTree>
    <p:extLst>
      <p:ext uri="{BB962C8B-B14F-4D97-AF65-F5344CB8AC3E}">
        <p14:creationId xmlns:p14="http://schemas.microsoft.com/office/powerpoint/2010/main" val="21949478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F45A4-6BE8-31D9-E539-B41FBAE7A5FE}"/>
            </a:ext>
          </a:extLst>
        </p:cNvPr>
        <p:cNvGrpSpPr/>
        <p:nvPr/>
      </p:nvGrpSpPr>
      <p:grpSpPr>
        <a:xfrm>
          <a:off x="0" y="0"/>
          <a:ext cx="0" cy="0"/>
          <a:chOff x="0" y="0"/>
          <a:chExt cx="0" cy="0"/>
        </a:xfrm>
      </p:grpSpPr>
      <p:sp>
        <p:nvSpPr>
          <p:cNvPr id="5" name="Text 0">
            <a:extLst>
              <a:ext uri="{FF2B5EF4-FFF2-40B4-BE49-F238E27FC236}">
                <a16:creationId xmlns:a16="http://schemas.microsoft.com/office/drawing/2014/main" id="{A0974D1F-13CF-8889-0464-40070CB9DF96}"/>
              </a:ext>
            </a:extLst>
          </p:cNvPr>
          <p:cNvSpPr/>
          <p:nvPr/>
        </p:nvSpPr>
        <p:spPr>
          <a:xfrm>
            <a:off x="375927" y="193332"/>
            <a:ext cx="4788337" cy="598527"/>
          </a:xfrm>
          <a:prstGeom prst="rect">
            <a:avLst/>
          </a:prstGeom>
          <a:noFill/>
          <a:ln/>
        </p:spPr>
        <p:txBody>
          <a:bodyPr wrap="none" lIns="0" tIns="0" rIns="0" bIns="0" rtlCol="0" anchor="t"/>
          <a:lstStyle/>
          <a:p>
            <a:pPr marL="571500" indent="-571500">
              <a:buFont typeface="Wingdings" panose="05000000000000000000" pitchFamily="2" charset="2"/>
              <a:buChar char="q"/>
            </a:pPr>
            <a:r>
              <a:rPr lang="en-IN" sz="3600" b="1" u="sng" dirty="0"/>
              <a:t>Deployment Steps:</a:t>
            </a:r>
            <a:endParaRPr lang="en-IN" sz="3600" u="sng" dirty="0"/>
          </a:p>
        </p:txBody>
      </p:sp>
      <p:sp>
        <p:nvSpPr>
          <p:cNvPr id="6" name="Rectangle 5">
            <a:extLst>
              <a:ext uri="{FF2B5EF4-FFF2-40B4-BE49-F238E27FC236}">
                <a16:creationId xmlns:a16="http://schemas.microsoft.com/office/drawing/2014/main" id="{189BD365-A763-ABAA-CC25-ACA87C8ACEA8}"/>
              </a:ext>
            </a:extLst>
          </p:cNvPr>
          <p:cNvSpPr/>
          <p:nvPr/>
        </p:nvSpPr>
        <p:spPr>
          <a:xfrm>
            <a:off x="12748590" y="7686260"/>
            <a:ext cx="1881809" cy="543339"/>
          </a:xfrm>
          <a:prstGeom prst="rect">
            <a:avLst/>
          </a:prstGeom>
          <a:solidFill>
            <a:srgbClr val="F9F8F5"/>
          </a:solidFill>
          <a:ln>
            <a:solidFill>
              <a:srgbClr val="F9F8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134E33B0-E064-FF50-30B2-FA2E9220AA1F}"/>
              </a:ext>
            </a:extLst>
          </p:cNvPr>
          <p:cNvSpPr txBox="1"/>
          <p:nvPr/>
        </p:nvSpPr>
        <p:spPr>
          <a:xfrm>
            <a:off x="692425" y="1317331"/>
            <a:ext cx="13063331" cy="1892378"/>
          </a:xfrm>
          <a:prstGeom prst="rect">
            <a:avLst/>
          </a:prstGeom>
          <a:noFill/>
        </p:spPr>
        <p:txBody>
          <a:bodyPr wrap="square">
            <a:spAutoFit/>
          </a:bodyPr>
          <a:lstStyle/>
          <a:p>
            <a:pPr>
              <a:lnSpc>
                <a:spcPct val="115000"/>
              </a:lnSpc>
              <a:spcAft>
                <a:spcPts val="1000"/>
              </a:spcAft>
              <a:buNone/>
            </a:pPr>
            <a:r>
              <a:rPr lang="en-IN" sz="2400" u="sng" dirty="0">
                <a:effectLst/>
                <a:latin typeface="Cambria" panose="02040503050406030204" pitchFamily="18" charset="0"/>
                <a:ea typeface="MS Mincho" panose="02020609040205080304" pitchFamily="49" charset="-128"/>
                <a:cs typeface="Times New Roman" panose="02020603050405020304" pitchFamily="18" charset="0"/>
              </a:rPr>
              <a:t>Step 1: Server Preparation</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marL="342900" lvl="0" indent="-342900">
              <a:lnSpc>
                <a:spcPct val="115000"/>
              </a:lnSpc>
              <a:buFont typeface="Wingdings" panose="05000000000000000000" pitchFamily="2" charset="2"/>
              <a:buChar char=""/>
            </a:pPr>
            <a:r>
              <a:rPr lang="en-IN" sz="1800" dirty="0">
                <a:effectLst/>
                <a:latin typeface="Cambria" panose="02040503050406030204" pitchFamily="18" charset="0"/>
                <a:ea typeface="MS Mincho" panose="02020609040205080304" pitchFamily="49" charset="-128"/>
                <a:cs typeface="Times New Roman" panose="02020603050405020304" pitchFamily="18" charset="0"/>
              </a:rPr>
              <a:t>Install base dependencies:</a:t>
            </a:r>
          </a:p>
          <a:p>
            <a:pPr marL="800100" lvl="1" indent="-342900">
              <a:lnSpc>
                <a:spcPct val="115000"/>
              </a:lnSpc>
              <a:buFont typeface="Cambria" panose="02040503050406030204" pitchFamily="18" charset="0"/>
              <a:buChar char="-"/>
            </a:pPr>
            <a:r>
              <a:rPr lang="en-IN" dirty="0" err="1">
                <a:effectLst/>
                <a:latin typeface="Cambria" panose="02040503050406030204" pitchFamily="18" charset="0"/>
                <a:ea typeface="MS Mincho" panose="02020609040205080304" pitchFamily="49" charset="-128"/>
                <a:cs typeface="Times New Roman" panose="02020603050405020304" pitchFamily="18" charset="0"/>
              </a:rPr>
              <a:t>sudo</a:t>
            </a:r>
            <a:r>
              <a:rPr lang="en-IN" dirty="0">
                <a:effectLst/>
                <a:latin typeface="Cambria" panose="02040503050406030204" pitchFamily="18" charset="0"/>
                <a:ea typeface="MS Mincho" panose="02020609040205080304" pitchFamily="49" charset="-128"/>
                <a:cs typeface="Times New Roman" panose="02020603050405020304" pitchFamily="18" charset="0"/>
              </a:rPr>
              <a:t> apt install python3.13 python3.13-venv python3-pip -y</a:t>
            </a:r>
          </a:p>
          <a:p>
            <a:pPr marL="800100" lvl="1" indent="-342900">
              <a:lnSpc>
                <a:spcPct val="115000"/>
              </a:lnSpc>
              <a:buFont typeface="Cambria" panose="02040503050406030204" pitchFamily="18" charset="0"/>
              <a:buChar char="-"/>
            </a:pPr>
            <a:r>
              <a:rPr lang="en-IN" dirty="0">
                <a:effectLst/>
                <a:latin typeface="Cambria" panose="02040503050406030204" pitchFamily="18" charset="0"/>
                <a:ea typeface="MS Mincho" panose="02020609040205080304" pitchFamily="49" charset="-128"/>
                <a:cs typeface="Times New Roman" panose="02020603050405020304" pitchFamily="18" charset="0"/>
              </a:rPr>
              <a:t>apt-get download libzbar0</a:t>
            </a:r>
          </a:p>
          <a:p>
            <a:pPr marL="800100" lvl="1" indent="-342900">
              <a:lnSpc>
                <a:spcPct val="115000"/>
              </a:lnSpc>
              <a:spcAft>
                <a:spcPts val="1000"/>
              </a:spcAft>
              <a:buFont typeface="Cambria" panose="02040503050406030204" pitchFamily="18" charset="0"/>
              <a:buChar char="-"/>
            </a:pPr>
            <a:r>
              <a:rPr lang="en-IN" dirty="0">
                <a:effectLst/>
                <a:latin typeface="Cambria" panose="02040503050406030204" pitchFamily="18" charset="0"/>
                <a:ea typeface="MS Mincho" panose="02020609040205080304" pitchFamily="49" charset="-128"/>
                <a:cs typeface="Times New Roman" panose="02020603050405020304" pitchFamily="18" charset="0"/>
              </a:rPr>
              <a:t>apt-get download </a:t>
            </a:r>
            <a:r>
              <a:rPr lang="en-IN" dirty="0" err="1">
                <a:effectLst/>
                <a:latin typeface="Cambria" panose="02040503050406030204" pitchFamily="18" charset="0"/>
                <a:ea typeface="MS Mincho" panose="02020609040205080304" pitchFamily="49" charset="-128"/>
                <a:cs typeface="Times New Roman" panose="02020603050405020304" pitchFamily="18" charset="0"/>
              </a:rPr>
              <a:t>poppler</a:t>
            </a:r>
            <a:r>
              <a:rPr lang="en-IN" dirty="0">
                <a:effectLst/>
                <a:latin typeface="Cambria" panose="02040503050406030204" pitchFamily="18" charset="0"/>
                <a:ea typeface="MS Mincho" panose="02020609040205080304" pitchFamily="49" charset="-128"/>
                <a:cs typeface="Times New Roman" panose="02020603050405020304" pitchFamily="18" charset="0"/>
              </a:rPr>
              <a:t>-utils</a:t>
            </a:r>
          </a:p>
        </p:txBody>
      </p:sp>
      <p:sp>
        <p:nvSpPr>
          <p:cNvPr id="7" name="TextBox 6">
            <a:extLst>
              <a:ext uri="{FF2B5EF4-FFF2-40B4-BE49-F238E27FC236}">
                <a16:creationId xmlns:a16="http://schemas.microsoft.com/office/drawing/2014/main" id="{559F3777-9B36-5966-727C-52B0571EA4B3}"/>
              </a:ext>
            </a:extLst>
          </p:cNvPr>
          <p:cNvSpPr txBox="1"/>
          <p:nvPr/>
        </p:nvSpPr>
        <p:spPr>
          <a:xfrm>
            <a:off x="692425" y="3722390"/>
            <a:ext cx="7321826" cy="1289071"/>
          </a:xfrm>
          <a:prstGeom prst="rect">
            <a:avLst/>
          </a:prstGeom>
          <a:noFill/>
        </p:spPr>
        <p:txBody>
          <a:bodyPr wrap="square">
            <a:spAutoFit/>
          </a:bodyPr>
          <a:lstStyle/>
          <a:p>
            <a:pPr>
              <a:lnSpc>
                <a:spcPct val="115000"/>
              </a:lnSpc>
              <a:spcAft>
                <a:spcPts val="1000"/>
              </a:spcAft>
              <a:buNone/>
            </a:pPr>
            <a:r>
              <a:rPr lang="en-IN" sz="2400" u="sng" dirty="0">
                <a:effectLst/>
                <a:latin typeface="Cambria" panose="02040503050406030204" pitchFamily="18" charset="0"/>
                <a:ea typeface="MS Mincho" panose="02020609040205080304" pitchFamily="49" charset="-128"/>
                <a:cs typeface="Times New Roman" panose="02020603050405020304" pitchFamily="18" charset="0"/>
              </a:rPr>
              <a:t>Step 2: Application Setup</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marL="342900" lvl="0" indent="-342900">
              <a:lnSpc>
                <a:spcPct val="115000"/>
              </a:lnSpc>
              <a:buFont typeface="Wingdings" panose="05000000000000000000" pitchFamily="2" charset="2"/>
              <a:buChar char=""/>
            </a:pPr>
            <a:r>
              <a:rPr lang="en-IN" sz="1800" dirty="0">
                <a:effectLst/>
                <a:latin typeface="Cambria" panose="02040503050406030204" pitchFamily="18" charset="0"/>
                <a:ea typeface="MS Mincho" panose="02020609040205080304" pitchFamily="49" charset="-128"/>
                <a:cs typeface="Times New Roman" panose="02020603050405020304" pitchFamily="18" charset="0"/>
              </a:rPr>
              <a:t>Create the application directory:</a:t>
            </a:r>
          </a:p>
          <a:p>
            <a:pPr marL="800100" lvl="1" indent="-342900">
              <a:lnSpc>
                <a:spcPct val="115000"/>
              </a:lnSpc>
              <a:spcAft>
                <a:spcPts val="1000"/>
              </a:spcAft>
              <a:buFont typeface="Cambria" panose="02040503050406030204" pitchFamily="18" charset="0"/>
              <a:buChar char="-"/>
            </a:pPr>
            <a:r>
              <a:rPr lang="en-IN" sz="2000" dirty="0" err="1">
                <a:effectLst/>
                <a:latin typeface="Times New Roman" panose="02020603050405020304" pitchFamily="18" charset="0"/>
                <a:ea typeface="Times New Roman" panose="02020603050405020304" pitchFamily="18" charset="0"/>
                <a:cs typeface="Times New Roman" panose="02020603050405020304" pitchFamily="18" charset="0"/>
              </a:rPr>
              <a:t>sudo</a:t>
            </a: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2000" dirty="0" err="1">
                <a:effectLst/>
                <a:latin typeface="Times New Roman" panose="02020603050405020304" pitchFamily="18" charset="0"/>
                <a:ea typeface="Times New Roman" panose="02020603050405020304" pitchFamily="18" charset="0"/>
                <a:cs typeface="Times New Roman" panose="02020603050405020304" pitchFamily="18" charset="0"/>
              </a:rPr>
              <a:t>mkdir</a:t>
            </a: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 /dcc-portal</a:t>
            </a:r>
            <a:endParaRPr lang="en-IN" dirty="0">
              <a:effectLst/>
              <a:latin typeface="Cambria" panose="02040503050406030204" pitchFamily="18" charset="0"/>
              <a:ea typeface="MS Mincho" panose="02020609040205080304" pitchFamily="49" charset="-128"/>
              <a:cs typeface="Times New Roman" panose="02020603050405020304" pitchFamily="18" charset="0"/>
            </a:endParaRPr>
          </a:p>
        </p:txBody>
      </p:sp>
      <p:sp>
        <p:nvSpPr>
          <p:cNvPr id="10" name="TextBox 9">
            <a:extLst>
              <a:ext uri="{FF2B5EF4-FFF2-40B4-BE49-F238E27FC236}">
                <a16:creationId xmlns:a16="http://schemas.microsoft.com/office/drawing/2014/main" id="{3D01500D-C908-587E-3C38-4A43A2527538}"/>
              </a:ext>
            </a:extLst>
          </p:cNvPr>
          <p:cNvSpPr txBox="1"/>
          <p:nvPr/>
        </p:nvSpPr>
        <p:spPr>
          <a:xfrm>
            <a:off x="692425" y="5635139"/>
            <a:ext cx="7321826" cy="1822871"/>
          </a:xfrm>
          <a:prstGeom prst="rect">
            <a:avLst/>
          </a:prstGeom>
          <a:noFill/>
        </p:spPr>
        <p:txBody>
          <a:bodyPr wrap="square">
            <a:spAutoFit/>
          </a:bodyPr>
          <a:lstStyle/>
          <a:p>
            <a:pPr>
              <a:lnSpc>
                <a:spcPct val="115000"/>
              </a:lnSpc>
              <a:spcAft>
                <a:spcPts val="1000"/>
              </a:spcAft>
              <a:buNone/>
            </a:pPr>
            <a:r>
              <a:rPr lang="en-IN" sz="2000" u="sng" dirty="0">
                <a:effectLst/>
                <a:latin typeface="Cambria" panose="02040503050406030204" pitchFamily="18" charset="0"/>
                <a:ea typeface="MS Mincho" panose="02020609040205080304" pitchFamily="49" charset="-128"/>
                <a:cs typeface="Times New Roman" panose="02020603050405020304" pitchFamily="18" charset="0"/>
              </a:rPr>
              <a:t>Step 3: Virtual Environment Setup</a:t>
            </a:r>
            <a:endParaRPr lang="en-IN" sz="1600" dirty="0">
              <a:effectLst/>
              <a:latin typeface="Cambria" panose="02040503050406030204" pitchFamily="18" charset="0"/>
              <a:ea typeface="MS Mincho" panose="02020609040205080304" pitchFamily="49" charset="-128"/>
              <a:cs typeface="Times New Roman" panose="02020603050405020304" pitchFamily="18" charset="0"/>
            </a:endParaRPr>
          </a:p>
          <a:p>
            <a:pPr marL="342900" lvl="0" indent="-342900">
              <a:lnSpc>
                <a:spcPct val="115000"/>
              </a:lnSpc>
              <a:buFont typeface="Wingdings" panose="05000000000000000000" pitchFamily="2" charset="2"/>
              <a:buChar char=""/>
            </a:pPr>
            <a:r>
              <a:rPr lang="en-IN" sz="1600" dirty="0">
                <a:effectLst/>
                <a:latin typeface="Cambria" panose="02040503050406030204" pitchFamily="18" charset="0"/>
                <a:ea typeface="MS Mincho" panose="02020609040205080304" pitchFamily="49" charset="-128"/>
                <a:cs typeface="Times New Roman" panose="02020603050405020304" pitchFamily="18" charset="0"/>
              </a:rPr>
              <a:t>Navigate into the project directory </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/dcc-portal</a:t>
            </a:r>
            <a:r>
              <a:rPr lang="en-IN" sz="1600" dirty="0">
                <a:effectLst/>
                <a:latin typeface="Cambria" panose="02040503050406030204" pitchFamily="18" charset="0"/>
                <a:ea typeface="MS Mincho" panose="02020609040205080304" pitchFamily="49" charset="-128"/>
                <a:cs typeface="Times New Roman" panose="02020603050405020304" pitchFamily="18" charset="0"/>
              </a:rPr>
              <a:t> and run:</a:t>
            </a:r>
          </a:p>
          <a:p>
            <a:pPr marL="800100" lvl="1" indent="-342900">
              <a:lnSpc>
                <a:spcPct val="115000"/>
              </a:lnSpc>
              <a:buFont typeface="Cambria" panose="02040503050406030204" pitchFamily="18" charset="0"/>
              <a:buChar char="-"/>
            </a:pP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python3.13 -m </a:t>
            </a:r>
            <a:r>
              <a:rPr lang="en-IN" dirty="0" err="1">
                <a:effectLst/>
                <a:latin typeface="Times New Roman" panose="02020603050405020304" pitchFamily="18" charset="0"/>
                <a:ea typeface="Times New Roman" panose="02020603050405020304" pitchFamily="18" charset="0"/>
                <a:cs typeface="Times New Roman" panose="02020603050405020304" pitchFamily="18" charset="0"/>
              </a:rPr>
              <a:t>venv</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dirty="0" err="1">
                <a:effectLst/>
                <a:latin typeface="Times New Roman" panose="02020603050405020304" pitchFamily="18" charset="0"/>
                <a:ea typeface="Times New Roman" panose="02020603050405020304" pitchFamily="18" charset="0"/>
                <a:cs typeface="Times New Roman" panose="02020603050405020304" pitchFamily="18" charset="0"/>
              </a:rPr>
              <a:t>venv</a:t>
            </a:r>
            <a:endParaRPr lang="en-IN" sz="1600" dirty="0">
              <a:effectLst/>
              <a:latin typeface="Cambria" panose="02040503050406030204" pitchFamily="18" charset="0"/>
              <a:ea typeface="MS Mincho" panose="02020609040205080304" pitchFamily="49" charset="-128"/>
              <a:cs typeface="Times New Roman" panose="02020603050405020304" pitchFamily="18" charset="0"/>
            </a:endParaRPr>
          </a:p>
          <a:p>
            <a:pPr marL="800100" lvl="1" indent="-342900">
              <a:lnSpc>
                <a:spcPct val="115000"/>
              </a:lnSpc>
              <a:buFont typeface="Cambria" panose="02040503050406030204" pitchFamily="18" charset="0"/>
              <a:buChar char="-"/>
            </a:pP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source .</a:t>
            </a:r>
            <a:r>
              <a:rPr lang="en-IN" dirty="0" err="1">
                <a:effectLst/>
                <a:latin typeface="Times New Roman" panose="02020603050405020304" pitchFamily="18" charset="0"/>
                <a:ea typeface="Times New Roman" panose="02020603050405020304" pitchFamily="18" charset="0"/>
                <a:cs typeface="Times New Roman" panose="02020603050405020304" pitchFamily="18" charset="0"/>
              </a:rPr>
              <a:t>venv</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/bin/activate</a:t>
            </a:r>
            <a:endParaRPr lang="en-IN" sz="1600" dirty="0">
              <a:effectLst/>
              <a:latin typeface="Cambria" panose="02040503050406030204" pitchFamily="18" charset="0"/>
              <a:ea typeface="MS Mincho" panose="02020609040205080304" pitchFamily="49" charset="-128"/>
              <a:cs typeface="Times New Roman" panose="02020603050405020304" pitchFamily="18" charset="0"/>
            </a:endParaRPr>
          </a:p>
          <a:p>
            <a:pPr marL="800100" lvl="1" indent="-342900">
              <a:lnSpc>
                <a:spcPct val="115000"/>
              </a:lnSpc>
              <a:spcAft>
                <a:spcPts val="1000"/>
              </a:spcAft>
              <a:buFont typeface="Cambria" panose="02040503050406030204" pitchFamily="18" charset="0"/>
              <a:buChar char="-"/>
            </a:pP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pip install -r requirements.txt</a:t>
            </a:r>
            <a:endParaRPr lang="en-IN" sz="1600" dirty="0">
              <a:effectLst/>
              <a:latin typeface="Cambria" panose="020405030504060302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15917848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55D23-07C0-F979-4506-0A7589C4D6FD}"/>
            </a:ext>
          </a:extLst>
        </p:cNvPr>
        <p:cNvGrpSpPr/>
        <p:nvPr/>
      </p:nvGrpSpPr>
      <p:grpSpPr>
        <a:xfrm>
          <a:off x="0" y="0"/>
          <a:ext cx="0" cy="0"/>
          <a:chOff x="0" y="0"/>
          <a:chExt cx="0" cy="0"/>
        </a:xfrm>
      </p:grpSpPr>
      <p:sp>
        <p:nvSpPr>
          <p:cNvPr id="5" name="Text 0">
            <a:extLst>
              <a:ext uri="{FF2B5EF4-FFF2-40B4-BE49-F238E27FC236}">
                <a16:creationId xmlns:a16="http://schemas.microsoft.com/office/drawing/2014/main" id="{CD58AD1C-EC9A-BD9D-BEF7-F08FC3C8D076}"/>
              </a:ext>
            </a:extLst>
          </p:cNvPr>
          <p:cNvSpPr/>
          <p:nvPr/>
        </p:nvSpPr>
        <p:spPr>
          <a:xfrm>
            <a:off x="375927" y="193332"/>
            <a:ext cx="4788337" cy="598527"/>
          </a:xfrm>
          <a:prstGeom prst="rect">
            <a:avLst/>
          </a:prstGeom>
          <a:noFill/>
          <a:ln/>
        </p:spPr>
        <p:txBody>
          <a:bodyPr wrap="none" lIns="0" tIns="0" rIns="0" bIns="0" rtlCol="0" anchor="t"/>
          <a:lstStyle/>
          <a:p>
            <a:pPr marL="571500" indent="-571500">
              <a:buFont typeface="Wingdings" panose="05000000000000000000" pitchFamily="2" charset="2"/>
              <a:buChar char="q"/>
            </a:pPr>
            <a:r>
              <a:rPr lang="en-IN" sz="3600" b="1" u="sng" dirty="0"/>
              <a:t>Deployment Steps:</a:t>
            </a:r>
            <a:endParaRPr lang="en-IN" sz="3600" u="sng" dirty="0"/>
          </a:p>
        </p:txBody>
      </p:sp>
      <p:sp>
        <p:nvSpPr>
          <p:cNvPr id="6" name="Rectangle 5">
            <a:extLst>
              <a:ext uri="{FF2B5EF4-FFF2-40B4-BE49-F238E27FC236}">
                <a16:creationId xmlns:a16="http://schemas.microsoft.com/office/drawing/2014/main" id="{2F3F2CD2-BB1A-2CB7-D06D-ED6540786A57}"/>
              </a:ext>
            </a:extLst>
          </p:cNvPr>
          <p:cNvSpPr/>
          <p:nvPr/>
        </p:nvSpPr>
        <p:spPr>
          <a:xfrm>
            <a:off x="12748590" y="7686260"/>
            <a:ext cx="1881809" cy="543339"/>
          </a:xfrm>
          <a:prstGeom prst="rect">
            <a:avLst/>
          </a:prstGeom>
          <a:solidFill>
            <a:srgbClr val="F9F8F5"/>
          </a:solidFill>
          <a:ln>
            <a:solidFill>
              <a:srgbClr val="F9F8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63FF88BE-39CF-770B-C0E6-30DFDC395005}"/>
              </a:ext>
            </a:extLst>
          </p:cNvPr>
          <p:cNvSpPr txBox="1"/>
          <p:nvPr/>
        </p:nvSpPr>
        <p:spPr>
          <a:xfrm>
            <a:off x="811696" y="1334996"/>
            <a:ext cx="7321826" cy="2445349"/>
          </a:xfrm>
          <a:prstGeom prst="rect">
            <a:avLst/>
          </a:prstGeom>
          <a:noFill/>
        </p:spPr>
        <p:txBody>
          <a:bodyPr wrap="square">
            <a:spAutoFit/>
          </a:bodyPr>
          <a:lstStyle/>
          <a:p>
            <a:pPr>
              <a:lnSpc>
                <a:spcPct val="115000"/>
              </a:lnSpc>
              <a:spcAft>
                <a:spcPts val="1000"/>
              </a:spcAft>
              <a:buNone/>
            </a:pPr>
            <a:r>
              <a:rPr lang="en-IN" sz="2400" u="sng" dirty="0">
                <a:effectLst/>
                <a:latin typeface="Cambria" panose="02040503050406030204" pitchFamily="18" charset="0"/>
                <a:ea typeface="MS Mincho" panose="02020609040205080304" pitchFamily="49" charset="-128"/>
                <a:cs typeface="Times New Roman" panose="02020603050405020304" pitchFamily="18" charset="0"/>
              </a:rPr>
              <a:t>Step 4: Environment Configuration</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a:lnSpc>
                <a:spcPct val="115000"/>
              </a:lnSpc>
              <a:spcAft>
                <a:spcPts val="1000"/>
              </a:spcAft>
              <a:buNone/>
            </a:pPr>
            <a:r>
              <a:rPr lang="en-IN" sz="2400" u="none" strike="noStrike" dirty="0">
                <a:effectLst/>
                <a:latin typeface="Cambria" panose="02040503050406030204" pitchFamily="18" charset="0"/>
                <a:ea typeface="MS Mincho" panose="02020609040205080304" pitchFamily="49" charset="-128"/>
                <a:cs typeface="Times New Roman" panose="02020603050405020304" pitchFamily="18" charset="0"/>
              </a:rPr>
              <a:t> </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marL="342900" lvl="0" indent="-342900">
              <a:lnSpc>
                <a:spcPct val="115000"/>
              </a:lnSpc>
              <a:buFont typeface="Wingdings" panose="05000000000000000000" pitchFamily="2" charset="2"/>
              <a:buChar char=""/>
            </a:pPr>
            <a:r>
              <a:rPr lang="en-IN" sz="1800" dirty="0">
                <a:effectLst/>
                <a:latin typeface="Cambria" panose="02040503050406030204" pitchFamily="18" charset="0"/>
                <a:ea typeface="MS Mincho" panose="02020609040205080304" pitchFamily="49" charset="-128"/>
                <a:cs typeface="Times New Roman" panose="02020603050405020304" pitchFamily="18" charset="0"/>
              </a:rPr>
              <a:t>Create a .env file inside the project directory for sensitive configurations:</a:t>
            </a:r>
          </a:p>
          <a:p>
            <a:pPr marL="457200">
              <a:lnSpc>
                <a:spcPct val="115000"/>
              </a:lnSpc>
              <a:buNone/>
            </a:pPr>
            <a:r>
              <a:rPr lang="en-IN" sz="1800" dirty="0">
                <a:effectLst/>
                <a:latin typeface="Cambria" panose="02040503050406030204" pitchFamily="18" charset="0"/>
                <a:ea typeface="MS Mincho" panose="02020609040205080304" pitchFamily="49" charset="-128"/>
                <a:cs typeface="Times New Roman" panose="02020603050405020304" pitchFamily="18" charset="0"/>
              </a:rPr>
              <a:t> </a:t>
            </a:r>
          </a:p>
          <a:p>
            <a:pPr marL="800100" lvl="1" indent="-342900">
              <a:lnSpc>
                <a:spcPct val="115000"/>
              </a:lnSpc>
              <a:spcAft>
                <a:spcPts val="1000"/>
              </a:spcAft>
              <a:buFont typeface="Cambria" panose="02040503050406030204" pitchFamily="18" charset="0"/>
              <a:buChar char="-"/>
            </a:pPr>
            <a:r>
              <a:rPr lang="en-IN" dirty="0">
                <a:effectLst/>
                <a:latin typeface="Cambria" panose="02040503050406030204" pitchFamily="18" charset="0"/>
                <a:ea typeface="MS Mincho" panose="02020609040205080304" pitchFamily="49" charset="-128"/>
                <a:cs typeface="Times New Roman" panose="02020603050405020304" pitchFamily="18" charset="0"/>
              </a:rPr>
              <a:t>The .env file is included</a:t>
            </a:r>
          </a:p>
        </p:txBody>
      </p:sp>
      <p:sp>
        <p:nvSpPr>
          <p:cNvPr id="9" name="TextBox 8">
            <a:extLst>
              <a:ext uri="{FF2B5EF4-FFF2-40B4-BE49-F238E27FC236}">
                <a16:creationId xmlns:a16="http://schemas.microsoft.com/office/drawing/2014/main" id="{22DAB86F-DE86-03B2-45F6-EE053B651B34}"/>
              </a:ext>
            </a:extLst>
          </p:cNvPr>
          <p:cNvSpPr txBox="1"/>
          <p:nvPr/>
        </p:nvSpPr>
        <p:spPr>
          <a:xfrm>
            <a:off x="811696" y="4470922"/>
            <a:ext cx="7321826" cy="1679947"/>
          </a:xfrm>
          <a:prstGeom prst="rect">
            <a:avLst/>
          </a:prstGeom>
          <a:noFill/>
        </p:spPr>
        <p:txBody>
          <a:bodyPr wrap="square">
            <a:spAutoFit/>
          </a:bodyPr>
          <a:lstStyle/>
          <a:p>
            <a:pPr>
              <a:lnSpc>
                <a:spcPct val="115000"/>
              </a:lnSpc>
              <a:spcAft>
                <a:spcPts val="1000"/>
              </a:spcAft>
              <a:buNone/>
            </a:pPr>
            <a:r>
              <a:rPr lang="en-IN" sz="2800" u="sng" dirty="0">
                <a:effectLst/>
                <a:latin typeface="Cambria" panose="02040503050406030204" pitchFamily="18" charset="0"/>
                <a:ea typeface="MS Mincho" panose="02020609040205080304" pitchFamily="49" charset="-128"/>
                <a:cs typeface="Times New Roman" panose="02020603050405020304" pitchFamily="18" charset="0"/>
              </a:rPr>
              <a:t>Step 5: </a:t>
            </a:r>
            <a:r>
              <a:rPr lang="en-IN" sz="2800" u="sng" dirty="0" err="1">
                <a:effectLst/>
                <a:latin typeface="Cambria" panose="02040503050406030204" pitchFamily="18" charset="0"/>
                <a:ea typeface="MS Mincho" panose="02020609040205080304" pitchFamily="49" charset="-128"/>
                <a:cs typeface="Times New Roman" panose="02020603050405020304" pitchFamily="18" charset="0"/>
              </a:rPr>
              <a:t>Gunicorn</a:t>
            </a:r>
            <a:r>
              <a:rPr lang="en-IN" sz="2800" u="sng" dirty="0">
                <a:effectLst/>
                <a:latin typeface="Cambria" panose="02040503050406030204" pitchFamily="18" charset="0"/>
                <a:ea typeface="MS Mincho" panose="02020609040205080304" pitchFamily="49" charset="-128"/>
                <a:cs typeface="Times New Roman" panose="02020603050405020304" pitchFamily="18" charset="0"/>
              </a:rPr>
              <a:t> Configuration</a:t>
            </a:r>
            <a:endParaRPr lang="en-IN" sz="2000" dirty="0">
              <a:effectLst/>
              <a:latin typeface="Cambria" panose="02040503050406030204" pitchFamily="18" charset="0"/>
              <a:ea typeface="MS Mincho" panose="02020609040205080304" pitchFamily="49" charset="-128"/>
              <a:cs typeface="Times New Roman" panose="02020603050405020304" pitchFamily="18" charset="0"/>
            </a:endParaRPr>
          </a:p>
          <a:p>
            <a:pPr marL="342900" lvl="0" indent="-342900">
              <a:lnSpc>
                <a:spcPct val="115000"/>
              </a:lnSpc>
              <a:buFont typeface="Wingdings" panose="05000000000000000000" pitchFamily="2" charset="2"/>
              <a:buChar char=""/>
            </a:pPr>
            <a:r>
              <a:rPr lang="en-IN" sz="2000" dirty="0">
                <a:effectLst/>
                <a:latin typeface="Cambria" panose="02040503050406030204" pitchFamily="18" charset="0"/>
                <a:ea typeface="MS Mincho" panose="02020609040205080304" pitchFamily="49" charset="-128"/>
                <a:cs typeface="Times New Roman" panose="02020603050405020304" pitchFamily="18" charset="0"/>
              </a:rPr>
              <a:t>Test </a:t>
            </a:r>
            <a:r>
              <a:rPr lang="en-IN" sz="2000" dirty="0" err="1">
                <a:effectLst/>
                <a:latin typeface="Cambria" panose="02040503050406030204" pitchFamily="18" charset="0"/>
                <a:ea typeface="MS Mincho" panose="02020609040205080304" pitchFamily="49" charset="-128"/>
                <a:cs typeface="Times New Roman" panose="02020603050405020304" pitchFamily="18" charset="0"/>
              </a:rPr>
              <a:t>Gunicorn</a:t>
            </a:r>
            <a:r>
              <a:rPr lang="en-IN" sz="2000" dirty="0">
                <a:effectLst/>
                <a:latin typeface="Cambria" panose="02040503050406030204" pitchFamily="18" charset="0"/>
                <a:ea typeface="MS Mincho" panose="02020609040205080304" pitchFamily="49" charset="-128"/>
                <a:cs typeface="Times New Roman" panose="02020603050405020304" pitchFamily="18" charset="0"/>
              </a:rPr>
              <a:t>:</a:t>
            </a:r>
          </a:p>
          <a:p>
            <a:pPr marL="800100" lvl="1" indent="-342900">
              <a:lnSpc>
                <a:spcPct val="115000"/>
              </a:lnSpc>
              <a:spcAft>
                <a:spcPts val="1000"/>
              </a:spcAft>
              <a:buFont typeface="Cambria" panose="02040503050406030204" pitchFamily="18" charset="0"/>
              <a:buChar char="-"/>
            </a:pPr>
            <a:r>
              <a:rPr lang="en-IN" dirty="0" err="1">
                <a:effectLst/>
                <a:latin typeface="Segoe UI" panose="020B0502040204020203" pitchFamily="34" charset="0"/>
                <a:ea typeface="Times New Roman" panose="02020603050405020304" pitchFamily="18" charset="0"/>
                <a:cs typeface="Times New Roman" panose="02020603050405020304" pitchFamily="18" charset="0"/>
              </a:rPr>
              <a:t>gunicorn</a:t>
            </a:r>
            <a:r>
              <a:rPr lang="en-IN" dirty="0">
                <a:effectLst/>
                <a:latin typeface="Segoe UI" panose="020B0502040204020203" pitchFamily="34" charset="0"/>
                <a:ea typeface="Times New Roman" panose="02020603050405020304" pitchFamily="18" charset="0"/>
                <a:cs typeface="Times New Roman" panose="02020603050405020304" pitchFamily="18" charset="0"/>
              </a:rPr>
              <a:t> --workers 1 --timeout 120 --bind 127.0.0.1:7000 </a:t>
            </a:r>
            <a:r>
              <a:rPr lang="en-IN" dirty="0" err="1">
                <a:effectLst/>
                <a:latin typeface="Segoe UI" panose="020B0502040204020203" pitchFamily="34" charset="0"/>
                <a:ea typeface="Times New Roman" panose="02020603050405020304" pitchFamily="18" charset="0"/>
                <a:cs typeface="Times New Roman" panose="02020603050405020304" pitchFamily="18" charset="0"/>
              </a:rPr>
              <a:t>api:app</a:t>
            </a:r>
            <a:endParaRPr lang="en-IN" sz="2000" dirty="0">
              <a:effectLst/>
              <a:latin typeface="Cambria" panose="020405030504060302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14641193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33ED2-8AB0-CACD-433C-F51CEC1711EB}"/>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22FC685C-CF93-24DB-BF00-5F871A7525CA}"/>
              </a:ext>
            </a:extLst>
          </p:cNvPr>
          <p:cNvSpPr/>
          <p:nvPr/>
        </p:nvSpPr>
        <p:spPr>
          <a:xfrm>
            <a:off x="12748590" y="7686260"/>
            <a:ext cx="1881809" cy="543339"/>
          </a:xfrm>
          <a:prstGeom prst="rect">
            <a:avLst/>
          </a:prstGeom>
          <a:solidFill>
            <a:srgbClr val="F9F8F5"/>
          </a:solidFill>
          <a:ln>
            <a:solidFill>
              <a:srgbClr val="F9F8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8FC62663-B3D4-A3FB-1BC2-D8433C8DC320}"/>
              </a:ext>
            </a:extLst>
          </p:cNvPr>
          <p:cNvSpPr txBox="1"/>
          <p:nvPr/>
        </p:nvSpPr>
        <p:spPr>
          <a:xfrm>
            <a:off x="886341" y="923039"/>
            <a:ext cx="13235609" cy="7113229"/>
          </a:xfrm>
          <a:prstGeom prst="rect">
            <a:avLst/>
          </a:prstGeom>
          <a:noFill/>
        </p:spPr>
        <p:txBody>
          <a:bodyPr wrap="square">
            <a:spAutoFit/>
          </a:bodyPr>
          <a:lstStyle/>
          <a:p>
            <a:pPr>
              <a:lnSpc>
                <a:spcPct val="115000"/>
              </a:lnSpc>
              <a:spcAft>
                <a:spcPts val="1000"/>
              </a:spcAft>
              <a:buNone/>
            </a:pPr>
            <a:r>
              <a:rPr lang="en-IN" sz="1600" u="sng" dirty="0">
                <a:effectLst/>
                <a:latin typeface="Cambria" panose="02040503050406030204" pitchFamily="18" charset="0"/>
                <a:ea typeface="MS Mincho" panose="02020609040205080304" pitchFamily="49" charset="-128"/>
                <a:cs typeface="Times New Roman" panose="02020603050405020304" pitchFamily="18" charset="0"/>
              </a:rPr>
              <a:t>Step 6: </a:t>
            </a:r>
            <a:r>
              <a:rPr lang="en-IN" sz="1600" u="sng" dirty="0" err="1">
                <a:effectLst/>
                <a:latin typeface="Cambria" panose="02040503050406030204" pitchFamily="18" charset="0"/>
                <a:ea typeface="MS Mincho" panose="02020609040205080304" pitchFamily="49" charset="-128"/>
                <a:cs typeface="Times New Roman" panose="02020603050405020304" pitchFamily="18" charset="0"/>
              </a:rPr>
              <a:t>Systemd</a:t>
            </a:r>
            <a:r>
              <a:rPr lang="en-IN" sz="1600" u="sng" dirty="0">
                <a:effectLst/>
                <a:latin typeface="Cambria" panose="02040503050406030204" pitchFamily="18" charset="0"/>
                <a:ea typeface="MS Mincho" panose="02020609040205080304" pitchFamily="49" charset="-128"/>
                <a:cs typeface="Times New Roman" panose="02020603050405020304" pitchFamily="18" charset="0"/>
              </a:rPr>
              <a:t> Service Configuration</a:t>
            </a:r>
            <a:endParaRPr lang="en-IN" sz="1600" dirty="0">
              <a:effectLst/>
              <a:latin typeface="Cambria" panose="02040503050406030204" pitchFamily="18" charset="0"/>
              <a:ea typeface="MS Mincho" panose="02020609040205080304" pitchFamily="49" charset="-128"/>
              <a:cs typeface="Times New Roman" panose="02020603050405020304" pitchFamily="18" charset="0"/>
            </a:endParaRPr>
          </a:p>
          <a:p>
            <a:pPr marL="342900" lvl="0" indent="-342900">
              <a:lnSpc>
                <a:spcPct val="115000"/>
              </a:lnSpc>
              <a:buFont typeface="Wingdings" panose="05000000000000000000" pitchFamily="2" charset="2"/>
              <a:buChar char=""/>
            </a:pPr>
            <a:r>
              <a:rPr lang="en-IN" sz="1600" dirty="0">
                <a:effectLst/>
                <a:latin typeface="Cambria" panose="02040503050406030204" pitchFamily="18" charset="0"/>
                <a:ea typeface="MS Mincho" panose="02020609040205080304" pitchFamily="49" charset="-128"/>
                <a:cs typeface="Times New Roman" panose="02020603050405020304" pitchFamily="18" charset="0"/>
              </a:rPr>
              <a:t>Create the service file:</a:t>
            </a:r>
          </a:p>
          <a:p>
            <a:pPr marL="342900" lvl="0" indent="-342900">
              <a:lnSpc>
                <a:spcPct val="115000"/>
              </a:lnSpc>
              <a:buFont typeface="Cambria" panose="02040503050406030204" pitchFamily="18" charset="0"/>
              <a:buChar char="-"/>
            </a:pPr>
            <a:r>
              <a:rPr lang="en-IN" sz="1600" dirty="0">
                <a:effectLst/>
                <a:latin typeface="Cambria" panose="02040503050406030204" pitchFamily="18" charset="0"/>
                <a:ea typeface="MS Mincho" panose="02020609040205080304" pitchFamily="49" charset="-128"/>
                <a:cs typeface="Times New Roman" panose="02020603050405020304" pitchFamily="18" charset="0"/>
              </a:rPr>
              <a:t>/etc/</a:t>
            </a:r>
            <a:r>
              <a:rPr lang="en-IN" sz="1600" dirty="0" err="1">
                <a:effectLst/>
                <a:latin typeface="Cambria" panose="02040503050406030204" pitchFamily="18" charset="0"/>
                <a:ea typeface="MS Mincho" panose="02020609040205080304" pitchFamily="49" charset="-128"/>
                <a:cs typeface="Times New Roman" panose="02020603050405020304" pitchFamily="18" charset="0"/>
              </a:rPr>
              <a:t>systemd</a:t>
            </a:r>
            <a:r>
              <a:rPr lang="en-IN" sz="1600" dirty="0">
                <a:effectLst/>
                <a:latin typeface="Cambria" panose="02040503050406030204" pitchFamily="18" charset="0"/>
                <a:ea typeface="MS Mincho" panose="02020609040205080304" pitchFamily="49" charset="-128"/>
                <a:cs typeface="Times New Roman" panose="02020603050405020304" pitchFamily="18" charset="0"/>
              </a:rPr>
              <a:t>/system/dcc-</a:t>
            </a:r>
            <a:r>
              <a:rPr lang="en-IN" sz="1600" dirty="0" err="1">
                <a:effectLst/>
                <a:latin typeface="Cambria" panose="02040503050406030204" pitchFamily="18" charset="0"/>
                <a:ea typeface="MS Mincho" panose="02020609040205080304" pitchFamily="49" charset="-128"/>
                <a:cs typeface="Times New Roman" panose="02020603050405020304" pitchFamily="18" charset="0"/>
              </a:rPr>
              <a:t>portal.service</a:t>
            </a:r>
            <a:endParaRPr lang="en-IN" sz="1600" dirty="0">
              <a:effectLst/>
              <a:latin typeface="Cambria" panose="02040503050406030204" pitchFamily="18" charset="0"/>
              <a:ea typeface="MS Mincho" panose="02020609040205080304" pitchFamily="49" charset="-128"/>
              <a:cs typeface="Times New Roman" panose="02020603050405020304" pitchFamily="18" charset="0"/>
            </a:endParaRPr>
          </a:p>
          <a:p>
            <a:pPr marL="1143000">
              <a:lnSpc>
                <a:spcPts val="1500"/>
              </a:lnSpc>
              <a:buNone/>
            </a:pPr>
            <a:r>
              <a:rPr lang="en-IN" sz="1600" dirty="0">
                <a:effectLst/>
                <a:latin typeface="Segoe UI" panose="020B0502040204020203" pitchFamily="34" charset="0"/>
                <a:ea typeface="Times New Roman" panose="02020603050405020304" pitchFamily="18" charset="0"/>
                <a:cs typeface="Times New Roman" panose="02020603050405020304" pitchFamily="18" charset="0"/>
              </a:rPr>
              <a:t> </a:t>
            </a:r>
            <a:endParaRPr lang="en-IN" sz="1600" dirty="0">
              <a:effectLst/>
              <a:latin typeface="Cambria" panose="02040503050406030204" pitchFamily="18" charset="0"/>
              <a:ea typeface="MS Mincho" panose="02020609040205080304" pitchFamily="49" charset="-128"/>
              <a:cs typeface="Times New Roman" panose="02020603050405020304" pitchFamily="18" charset="0"/>
            </a:endParaRPr>
          </a:p>
          <a:p>
            <a:pPr marL="342900" lvl="0" indent="-342900">
              <a:lnSpc>
                <a:spcPts val="1500"/>
              </a:lnSpc>
              <a:spcAft>
                <a:spcPts val="1000"/>
              </a:spcAft>
              <a:buFont typeface="Wingdings" panose="05000000000000000000" pitchFamily="2" charset="2"/>
              <a:buChar char=""/>
            </a:pPr>
            <a:r>
              <a:rPr lang="en-IN" sz="1600" dirty="0">
                <a:effectLst/>
                <a:latin typeface="Segoe UI" panose="020B0502040204020203" pitchFamily="34" charset="0"/>
                <a:ea typeface="Times New Roman" panose="02020603050405020304" pitchFamily="18" charset="0"/>
                <a:cs typeface="Times New Roman" panose="02020603050405020304" pitchFamily="18" charset="0"/>
              </a:rPr>
              <a:t>Service File Content:</a:t>
            </a:r>
            <a:endParaRPr lang="en-IN" sz="1600" dirty="0">
              <a:effectLst/>
              <a:latin typeface="Cambria" panose="02040503050406030204" pitchFamily="18" charset="0"/>
              <a:ea typeface="MS Mincho" panose="02020609040205080304" pitchFamily="49" charset="-128"/>
              <a:cs typeface="Times New Roman" panose="02020603050405020304" pitchFamily="18" charset="0"/>
            </a:endParaRPr>
          </a:p>
          <a:p>
            <a:pPr marL="457200">
              <a:lnSpc>
                <a:spcPts val="1500"/>
              </a:lnSpc>
              <a:spcAft>
                <a:spcPts val="1000"/>
              </a:spcAft>
              <a:buNone/>
            </a:pPr>
            <a:r>
              <a:rPr lang="en-IN" sz="1600" dirty="0">
                <a:effectLst/>
                <a:latin typeface="Segoe UI" panose="020B0502040204020203" pitchFamily="34" charset="0"/>
                <a:ea typeface="Times New Roman" panose="02020603050405020304" pitchFamily="18" charset="0"/>
                <a:cs typeface="Times New Roman" panose="02020603050405020304" pitchFamily="18" charset="0"/>
              </a:rPr>
              <a:t>[Unit]</a:t>
            </a:r>
            <a:endParaRPr lang="en-IN" sz="1600" dirty="0">
              <a:effectLst/>
              <a:latin typeface="Cambria" panose="02040503050406030204" pitchFamily="18" charset="0"/>
              <a:ea typeface="MS Mincho" panose="02020609040205080304" pitchFamily="49" charset="-128"/>
              <a:cs typeface="Times New Roman" panose="02020603050405020304" pitchFamily="18" charset="0"/>
            </a:endParaRPr>
          </a:p>
          <a:p>
            <a:pPr marL="457200">
              <a:lnSpc>
                <a:spcPts val="1500"/>
              </a:lnSpc>
              <a:spcAft>
                <a:spcPts val="1000"/>
              </a:spcAft>
              <a:buNone/>
            </a:pPr>
            <a:r>
              <a:rPr lang="en-IN" sz="1600" dirty="0">
                <a:effectLst/>
                <a:latin typeface="Segoe UI" panose="020B0502040204020203" pitchFamily="34" charset="0"/>
                <a:ea typeface="Times New Roman" panose="02020603050405020304" pitchFamily="18" charset="0"/>
                <a:cs typeface="Times New Roman" panose="02020603050405020304" pitchFamily="18" charset="0"/>
              </a:rPr>
              <a:t>Description="DCC API Python"</a:t>
            </a:r>
            <a:endParaRPr lang="en-IN" sz="1600" dirty="0">
              <a:effectLst/>
              <a:latin typeface="Cambria" panose="02040503050406030204" pitchFamily="18" charset="0"/>
              <a:ea typeface="MS Mincho" panose="02020609040205080304" pitchFamily="49" charset="-128"/>
              <a:cs typeface="Times New Roman" panose="02020603050405020304" pitchFamily="18" charset="0"/>
            </a:endParaRPr>
          </a:p>
          <a:p>
            <a:pPr marL="457200">
              <a:lnSpc>
                <a:spcPts val="1500"/>
              </a:lnSpc>
              <a:spcAft>
                <a:spcPts val="1000"/>
              </a:spcAft>
              <a:buNone/>
            </a:pPr>
            <a:r>
              <a:rPr lang="en-IN" sz="1600" dirty="0">
                <a:effectLst/>
                <a:latin typeface="Segoe UI" panose="020B0502040204020203" pitchFamily="34" charset="0"/>
                <a:ea typeface="Times New Roman" panose="02020603050405020304" pitchFamily="18" charset="0"/>
                <a:cs typeface="Times New Roman" panose="02020603050405020304" pitchFamily="18" charset="0"/>
              </a:rPr>
              <a:t>After=</a:t>
            </a:r>
            <a:r>
              <a:rPr lang="en-IN" sz="1600" dirty="0" err="1">
                <a:effectLst/>
                <a:latin typeface="Segoe UI" panose="020B0502040204020203" pitchFamily="34" charset="0"/>
                <a:ea typeface="Times New Roman" panose="02020603050405020304" pitchFamily="18" charset="0"/>
                <a:cs typeface="Times New Roman" panose="02020603050405020304" pitchFamily="18" charset="0"/>
              </a:rPr>
              <a:t>network.target</a:t>
            </a:r>
            <a:endParaRPr lang="en-IN" sz="1600" dirty="0">
              <a:effectLst/>
              <a:latin typeface="Cambria" panose="02040503050406030204" pitchFamily="18" charset="0"/>
              <a:ea typeface="MS Mincho" panose="02020609040205080304" pitchFamily="49" charset="-128"/>
              <a:cs typeface="Times New Roman" panose="02020603050405020304" pitchFamily="18" charset="0"/>
            </a:endParaRPr>
          </a:p>
          <a:p>
            <a:pPr marL="457200">
              <a:lnSpc>
                <a:spcPts val="1500"/>
              </a:lnSpc>
              <a:spcAft>
                <a:spcPts val="1000"/>
              </a:spcAft>
              <a:buNone/>
            </a:pPr>
            <a:r>
              <a:rPr lang="en-IN" sz="1600" dirty="0">
                <a:effectLst/>
                <a:latin typeface="Segoe UI" panose="020B0502040204020203" pitchFamily="34" charset="0"/>
                <a:ea typeface="Times New Roman" panose="02020603050405020304" pitchFamily="18" charset="0"/>
                <a:cs typeface="Times New Roman" panose="02020603050405020304" pitchFamily="18" charset="0"/>
              </a:rPr>
              <a:t>[Service]</a:t>
            </a:r>
            <a:endParaRPr lang="en-IN" sz="1600" dirty="0">
              <a:effectLst/>
              <a:latin typeface="Cambria" panose="02040503050406030204" pitchFamily="18" charset="0"/>
              <a:ea typeface="MS Mincho" panose="02020609040205080304" pitchFamily="49" charset="-128"/>
              <a:cs typeface="Times New Roman" panose="02020603050405020304" pitchFamily="18" charset="0"/>
            </a:endParaRPr>
          </a:p>
          <a:p>
            <a:pPr marL="457200">
              <a:lnSpc>
                <a:spcPts val="1500"/>
              </a:lnSpc>
              <a:spcAft>
                <a:spcPts val="1000"/>
              </a:spcAft>
              <a:buNone/>
            </a:pPr>
            <a:r>
              <a:rPr lang="en-IN" sz="1600" dirty="0" err="1">
                <a:effectLst/>
                <a:latin typeface="Segoe UI" panose="020B0502040204020203" pitchFamily="34" charset="0"/>
                <a:ea typeface="Times New Roman" panose="02020603050405020304" pitchFamily="18" charset="0"/>
                <a:cs typeface="Times New Roman" panose="02020603050405020304" pitchFamily="18" charset="0"/>
              </a:rPr>
              <a:t>WorkingDirectory</a:t>
            </a:r>
            <a:r>
              <a:rPr lang="en-IN" sz="1600" dirty="0">
                <a:effectLst/>
                <a:latin typeface="Segoe UI" panose="020B0502040204020203" pitchFamily="34" charset="0"/>
                <a:ea typeface="Times New Roman" panose="02020603050405020304" pitchFamily="18" charset="0"/>
                <a:cs typeface="Times New Roman" panose="02020603050405020304" pitchFamily="18" charset="0"/>
              </a:rPr>
              <a:t>=</a:t>
            </a: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/dcc-portal</a:t>
            </a:r>
            <a:endParaRPr lang="en-IN" sz="1600" dirty="0">
              <a:effectLst/>
              <a:latin typeface="Cambria" panose="02040503050406030204" pitchFamily="18" charset="0"/>
              <a:ea typeface="MS Mincho" panose="02020609040205080304" pitchFamily="49" charset="-128"/>
              <a:cs typeface="Times New Roman" panose="02020603050405020304" pitchFamily="18" charset="0"/>
            </a:endParaRPr>
          </a:p>
          <a:p>
            <a:pPr marL="457200">
              <a:lnSpc>
                <a:spcPts val="1500"/>
              </a:lnSpc>
              <a:spcAft>
                <a:spcPts val="1000"/>
              </a:spcAft>
              <a:buNone/>
            </a:pPr>
            <a:r>
              <a:rPr lang="en-IN" sz="1600" dirty="0">
                <a:effectLst/>
                <a:latin typeface="Segoe UI" panose="020B0502040204020203" pitchFamily="34" charset="0"/>
                <a:ea typeface="Times New Roman" panose="02020603050405020304" pitchFamily="18" charset="0"/>
                <a:cs typeface="Times New Roman" panose="02020603050405020304" pitchFamily="18" charset="0"/>
              </a:rPr>
              <a:t>Environment=PATH=$VIRTUAL_ENV/bin:$PATH</a:t>
            </a:r>
            <a:endParaRPr lang="en-IN" sz="1600" dirty="0">
              <a:effectLst/>
              <a:latin typeface="Cambria" panose="02040503050406030204" pitchFamily="18" charset="0"/>
              <a:ea typeface="MS Mincho" panose="02020609040205080304" pitchFamily="49" charset="-128"/>
              <a:cs typeface="Times New Roman" panose="02020603050405020304" pitchFamily="18" charset="0"/>
            </a:endParaRPr>
          </a:p>
          <a:p>
            <a:pPr marL="457200">
              <a:lnSpc>
                <a:spcPts val="1500"/>
              </a:lnSpc>
              <a:spcAft>
                <a:spcPts val="1000"/>
              </a:spcAft>
              <a:buNone/>
            </a:pPr>
            <a:r>
              <a:rPr lang="en-IN" sz="1600" dirty="0" err="1">
                <a:effectLst/>
                <a:latin typeface="Segoe UI" panose="020B0502040204020203" pitchFamily="34" charset="0"/>
                <a:ea typeface="Times New Roman" panose="02020603050405020304" pitchFamily="18" charset="0"/>
                <a:cs typeface="Times New Roman" panose="02020603050405020304" pitchFamily="18" charset="0"/>
              </a:rPr>
              <a:t>ExecStart</a:t>
            </a:r>
            <a:r>
              <a:rPr lang="en-IN" sz="1600" dirty="0">
                <a:effectLst/>
                <a:latin typeface="Segoe UI" panose="020B0502040204020203" pitchFamily="34" charset="0"/>
                <a:ea typeface="Times New Roman" panose="02020603050405020304" pitchFamily="18" charset="0"/>
                <a:cs typeface="Times New Roman" panose="02020603050405020304" pitchFamily="18" charset="0"/>
              </a:rPr>
              <a:t>=/dcc-portal/.</a:t>
            </a:r>
            <a:r>
              <a:rPr lang="en-IN" sz="1600" dirty="0" err="1">
                <a:effectLst/>
                <a:latin typeface="Segoe UI" panose="020B0502040204020203" pitchFamily="34" charset="0"/>
                <a:ea typeface="Times New Roman" panose="02020603050405020304" pitchFamily="18" charset="0"/>
                <a:cs typeface="Times New Roman" panose="02020603050405020304" pitchFamily="18" charset="0"/>
              </a:rPr>
              <a:t>venv</a:t>
            </a:r>
            <a:r>
              <a:rPr lang="en-IN" sz="1600" dirty="0">
                <a:effectLst/>
                <a:latin typeface="Segoe UI" panose="020B0502040204020203" pitchFamily="34" charset="0"/>
                <a:ea typeface="Times New Roman" panose="02020603050405020304" pitchFamily="18" charset="0"/>
                <a:cs typeface="Times New Roman" panose="02020603050405020304" pitchFamily="18" charset="0"/>
              </a:rPr>
              <a:t>/bin/</a:t>
            </a:r>
            <a:r>
              <a:rPr lang="en-IN" sz="1600" dirty="0" err="1">
                <a:effectLst/>
                <a:latin typeface="Segoe UI" panose="020B0502040204020203" pitchFamily="34" charset="0"/>
                <a:ea typeface="Times New Roman" panose="02020603050405020304" pitchFamily="18" charset="0"/>
                <a:cs typeface="Times New Roman" panose="02020603050405020304" pitchFamily="18" charset="0"/>
              </a:rPr>
              <a:t>gunicorn</a:t>
            </a:r>
            <a:r>
              <a:rPr lang="en-IN" sz="1600" dirty="0">
                <a:effectLst/>
                <a:latin typeface="Segoe UI" panose="020B0502040204020203" pitchFamily="34" charset="0"/>
                <a:ea typeface="Times New Roman" panose="02020603050405020304" pitchFamily="18" charset="0"/>
                <a:cs typeface="Times New Roman" panose="02020603050405020304" pitchFamily="18" charset="0"/>
              </a:rPr>
              <a:t> --workers 1 --timeout 120 --bind 127.0.0.1:7000 </a:t>
            </a:r>
            <a:r>
              <a:rPr lang="en-IN" sz="1600" dirty="0" err="1">
                <a:effectLst/>
                <a:latin typeface="Segoe UI" panose="020B0502040204020203" pitchFamily="34" charset="0"/>
                <a:ea typeface="Times New Roman" panose="02020603050405020304" pitchFamily="18" charset="0"/>
                <a:cs typeface="Times New Roman" panose="02020603050405020304" pitchFamily="18" charset="0"/>
              </a:rPr>
              <a:t>api:app</a:t>
            </a:r>
            <a:endParaRPr lang="en-IN" sz="1600" dirty="0">
              <a:effectLst/>
              <a:latin typeface="Cambria" panose="02040503050406030204" pitchFamily="18" charset="0"/>
              <a:ea typeface="MS Mincho" panose="02020609040205080304" pitchFamily="49" charset="-128"/>
              <a:cs typeface="Times New Roman" panose="02020603050405020304" pitchFamily="18" charset="0"/>
            </a:endParaRPr>
          </a:p>
          <a:p>
            <a:pPr marL="457200">
              <a:lnSpc>
                <a:spcPts val="1500"/>
              </a:lnSpc>
              <a:spcAft>
                <a:spcPts val="1000"/>
              </a:spcAft>
              <a:buNone/>
            </a:pPr>
            <a:r>
              <a:rPr lang="en-IN" sz="1600" dirty="0">
                <a:effectLst/>
                <a:latin typeface="Segoe UI" panose="020B0502040204020203" pitchFamily="34" charset="0"/>
                <a:ea typeface="Times New Roman" panose="02020603050405020304" pitchFamily="18" charset="0"/>
                <a:cs typeface="Times New Roman" panose="02020603050405020304" pitchFamily="18" charset="0"/>
              </a:rPr>
              <a:t>Restart=always</a:t>
            </a:r>
            <a:endParaRPr lang="en-IN" sz="1600" dirty="0">
              <a:effectLst/>
              <a:latin typeface="Cambria" panose="02040503050406030204" pitchFamily="18" charset="0"/>
              <a:ea typeface="MS Mincho" panose="02020609040205080304" pitchFamily="49" charset="-128"/>
              <a:cs typeface="Times New Roman" panose="02020603050405020304" pitchFamily="18" charset="0"/>
            </a:endParaRPr>
          </a:p>
          <a:p>
            <a:pPr marL="457200">
              <a:lnSpc>
                <a:spcPts val="1500"/>
              </a:lnSpc>
              <a:spcAft>
                <a:spcPts val="1000"/>
              </a:spcAft>
              <a:buNone/>
            </a:pPr>
            <a:r>
              <a:rPr lang="en-IN" sz="1600" dirty="0" err="1">
                <a:effectLst/>
                <a:latin typeface="Segoe UI" panose="020B0502040204020203" pitchFamily="34" charset="0"/>
                <a:ea typeface="Times New Roman" panose="02020603050405020304" pitchFamily="18" charset="0"/>
                <a:cs typeface="Times New Roman" panose="02020603050405020304" pitchFamily="18" charset="0"/>
              </a:rPr>
              <a:t>RestartSec</a:t>
            </a:r>
            <a:r>
              <a:rPr lang="en-IN" sz="1600" dirty="0">
                <a:effectLst/>
                <a:latin typeface="Segoe UI" panose="020B0502040204020203" pitchFamily="34" charset="0"/>
                <a:ea typeface="Times New Roman" panose="02020603050405020304" pitchFamily="18" charset="0"/>
                <a:cs typeface="Times New Roman" panose="02020603050405020304" pitchFamily="18" charset="0"/>
              </a:rPr>
              <a:t>=10</a:t>
            </a:r>
            <a:endParaRPr lang="en-IN" sz="1600" dirty="0">
              <a:effectLst/>
              <a:latin typeface="Cambria" panose="02040503050406030204" pitchFamily="18" charset="0"/>
              <a:ea typeface="MS Mincho" panose="02020609040205080304" pitchFamily="49" charset="-128"/>
              <a:cs typeface="Times New Roman" panose="02020603050405020304" pitchFamily="18" charset="0"/>
            </a:endParaRPr>
          </a:p>
          <a:p>
            <a:pPr marL="457200">
              <a:lnSpc>
                <a:spcPts val="1500"/>
              </a:lnSpc>
              <a:spcAft>
                <a:spcPts val="1000"/>
              </a:spcAft>
              <a:buNone/>
            </a:pPr>
            <a:r>
              <a:rPr lang="en-IN" sz="1600" dirty="0" err="1">
                <a:effectLst/>
                <a:latin typeface="Segoe UI" panose="020B0502040204020203" pitchFamily="34" charset="0"/>
                <a:ea typeface="Times New Roman" panose="02020603050405020304" pitchFamily="18" charset="0"/>
                <a:cs typeface="Times New Roman" panose="02020603050405020304" pitchFamily="18" charset="0"/>
              </a:rPr>
              <a:t>KillSignal</a:t>
            </a:r>
            <a:r>
              <a:rPr lang="en-IN" sz="1600" dirty="0">
                <a:effectLst/>
                <a:latin typeface="Segoe UI" panose="020B0502040204020203" pitchFamily="34" charset="0"/>
                <a:ea typeface="Times New Roman" panose="02020603050405020304" pitchFamily="18" charset="0"/>
                <a:cs typeface="Times New Roman" panose="02020603050405020304" pitchFamily="18" charset="0"/>
              </a:rPr>
              <a:t>=SIGINT</a:t>
            </a:r>
            <a:endParaRPr lang="en-IN" sz="1600" dirty="0">
              <a:effectLst/>
              <a:latin typeface="Cambria" panose="02040503050406030204" pitchFamily="18" charset="0"/>
              <a:ea typeface="MS Mincho" panose="02020609040205080304" pitchFamily="49" charset="-128"/>
              <a:cs typeface="Times New Roman" panose="02020603050405020304" pitchFamily="18" charset="0"/>
            </a:endParaRPr>
          </a:p>
          <a:p>
            <a:pPr marL="457200">
              <a:lnSpc>
                <a:spcPts val="1500"/>
              </a:lnSpc>
              <a:spcAft>
                <a:spcPts val="1000"/>
              </a:spcAft>
              <a:buNone/>
            </a:pPr>
            <a:r>
              <a:rPr lang="en-IN" sz="1600" dirty="0" err="1">
                <a:effectLst/>
                <a:latin typeface="Segoe UI" panose="020B0502040204020203" pitchFamily="34" charset="0"/>
                <a:ea typeface="Times New Roman" panose="02020603050405020304" pitchFamily="18" charset="0"/>
                <a:cs typeface="Times New Roman" panose="02020603050405020304" pitchFamily="18" charset="0"/>
              </a:rPr>
              <a:t>SyslogIdentifier</a:t>
            </a:r>
            <a:r>
              <a:rPr lang="en-IN" sz="1600" dirty="0">
                <a:effectLst/>
                <a:latin typeface="Segoe UI" panose="020B0502040204020203" pitchFamily="34" charset="0"/>
                <a:ea typeface="Times New Roman" panose="02020603050405020304" pitchFamily="18" charset="0"/>
                <a:cs typeface="Times New Roman" panose="02020603050405020304" pitchFamily="18" charset="0"/>
              </a:rPr>
              <a:t>=dcc-</a:t>
            </a:r>
            <a:r>
              <a:rPr lang="en-IN" sz="1600" dirty="0" err="1">
                <a:effectLst/>
                <a:latin typeface="Segoe UI" panose="020B0502040204020203" pitchFamily="34" charset="0"/>
                <a:ea typeface="Times New Roman" panose="02020603050405020304" pitchFamily="18" charset="0"/>
                <a:cs typeface="Times New Roman" panose="02020603050405020304" pitchFamily="18" charset="0"/>
              </a:rPr>
              <a:t>api</a:t>
            </a:r>
            <a:r>
              <a:rPr lang="en-IN" sz="1600" dirty="0">
                <a:effectLst/>
                <a:latin typeface="Segoe UI" panose="020B0502040204020203" pitchFamily="34" charset="0"/>
                <a:ea typeface="Times New Roman" panose="02020603050405020304" pitchFamily="18" charset="0"/>
                <a:cs typeface="Times New Roman" panose="02020603050405020304" pitchFamily="18" charset="0"/>
              </a:rPr>
              <a:t>-python</a:t>
            </a:r>
            <a:endParaRPr lang="en-IN" sz="1600" dirty="0">
              <a:effectLst/>
              <a:latin typeface="Cambria" panose="02040503050406030204" pitchFamily="18" charset="0"/>
              <a:ea typeface="MS Mincho" panose="02020609040205080304" pitchFamily="49" charset="-128"/>
              <a:cs typeface="Times New Roman" panose="02020603050405020304" pitchFamily="18" charset="0"/>
            </a:endParaRPr>
          </a:p>
          <a:p>
            <a:pPr marL="457200">
              <a:lnSpc>
                <a:spcPts val="1500"/>
              </a:lnSpc>
              <a:spcAft>
                <a:spcPts val="1000"/>
              </a:spcAft>
              <a:buNone/>
            </a:pPr>
            <a:r>
              <a:rPr lang="en-IN" sz="1600" dirty="0">
                <a:effectLst/>
                <a:latin typeface="Segoe UI" panose="020B0502040204020203" pitchFamily="34" charset="0"/>
                <a:ea typeface="Times New Roman" panose="02020603050405020304" pitchFamily="18" charset="0"/>
                <a:cs typeface="Times New Roman" panose="02020603050405020304" pitchFamily="18" charset="0"/>
              </a:rPr>
              <a:t>User=root </a:t>
            </a:r>
            <a:endParaRPr lang="en-IN" sz="1600" dirty="0">
              <a:effectLst/>
              <a:latin typeface="Cambria" panose="02040503050406030204" pitchFamily="18" charset="0"/>
              <a:ea typeface="MS Mincho" panose="02020609040205080304" pitchFamily="49" charset="-128"/>
              <a:cs typeface="Times New Roman" panose="02020603050405020304" pitchFamily="18" charset="0"/>
            </a:endParaRPr>
          </a:p>
          <a:p>
            <a:pPr marL="457200">
              <a:lnSpc>
                <a:spcPts val="1500"/>
              </a:lnSpc>
              <a:spcAft>
                <a:spcPts val="1000"/>
              </a:spcAft>
              <a:buNone/>
            </a:pPr>
            <a:r>
              <a:rPr lang="en-IN" sz="1600" dirty="0">
                <a:effectLst/>
                <a:latin typeface="Segoe UI" panose="020B0502040204020203" pitchFamily="34" charset="0"/>
                <a:ea typeface="Times New Roman" panose="02020603050405020304" pitchFamily="18" charset="0"/>
                <a:cs typeface="Times New Roman" panose="02020603050405020304" pitchFamily="18" charset="0"/>
              </a:rPr>
              <a:t>[Install]</a:t>
            </a:r>
            <a:endParaRPr lang="en-IN" sz="1600" dirty="0">
              <a:effectLst/>
              <a:latin typeface="Cambria" panose="02040503050406030204" pitchFamily="18" charset="0"/>
              <a:ea typeface="MS Mincho" panose="02020609040205080304" pitchFamily="49" charset="-128"/>
              <a:cs typeface="Times New Roman" panose="02020603050405020304" pitchFamily="18" charset="0"/>
            </a:endParaRPr>
          </a:p>
          <a:p>
            <a:pPr marL="457200">
              <a:lnSpc>
                <a:spcPts val="1500"/>
              </a:lnSpc>
              <a:spcAft>
                <a:spcPts val="1000"/>
              </a:spcAft>
              <a:buNone/>
            </a:pPr>
            <a:r>
              <a:rPr lang="en-IN" sz="1600" dirty="0" err="1">
                <a:effectLst/>
                <a:latin typeface="Segoe UI" panose="020B0502040204020203" pitchFamily="34" charset="0"/>
                <a:ea typeface="Times New Roman" panose="02020603050405020304" pitchFamily="18" charset="0"/>
                <a:cs typeface="Times New Roman" panose="02020603050405020304" pitchFamily="18" charset="0"/>
              </a:rPr>
              <a:t>WantedBy</a:t>
            </a:r>
            <a:r>
              <a:rPr lang="en-IN" sz="1600" dirty="0">
                <a:effectLst/>
                <a:latin typeface="Segoe UI" panose="020B0502040204020203" pitchFamily="34" charset="0"/>
                <a:ea typeface="Times New Roman" panose="02020603050405020304" pitchFamily="18" charset="0"/>
                <a:cs typeface="Times New Roman" panose="02020603050405020304" pitchFamily="18" charset="0"/>
              </a:rPr>
              <a:t>=multi-</a:t>
            </a:r>
            <a:r>
              <a:rPr lang="en-IN" sz="1600" dirty="0" err="1">
                <a:effectLst/>
                <a:latin typeface="Segoe UI" panose="020B0502040204020203" pitchFamily="34" charset="0"/>
                <a:ea typeface="Times New Roman" panose="02020603050405020304" pitchFamily="18" charset="0"/>
                <a:cs typeface="Times New Roman" panose="02020603050405020304" pitchFamily="18" charset="0"/>
              </a:rPr>
              <a:t>user.target</a:t>
            </a:r>
            <a:endParaRPr lang="en-IN" sz="1600" dirty="0">
              <a:effectLst/>
              <a:latin typeface="Cambria" panose="02040503050406030204" pitchFamily="18" charset="0"/>
              <a:ea typeface="MS Mincho" panose="02020609040205080304" pitchFamily="49" charset="-128"/>
              <a:cs typeface="Times New Roman" panose="02020603050405020304" pitchFamily="18" charset="0"/>
            </a:endParaRPr>
          </a:p>
          <a:p>
            <a:pPr marL="342900" lvl="0" indent="-342900">
              <a:lnSpc>
                <a:spcPct val="115000"/>
              </a:lnSpc>
              <a:buFont typeface="Wingdings" panose="05000000000000000000" pitchFamily="2" charset="2"/>
              <a:buChar char=""/>
            </a:pPr>
            <a:r>
              <a:rPr lang="en-IN" sz="1600" dirty="0">
                <a:effectLst/>
                <a:latin typeface="Segoe UI" panose="020B0502040204020203" pitchFamily="34" charset="0"/>
                <a:ea typeface="Times New Roman" panose="02020603050405020304" pitchFamily="18" charset="0"/>
                <a:cs typeface="Times New Roman" panose="02020603050405020304" pitchFamily="18" charset="0"/>
              </a:rPr>
              <a:t>Enable &amp; Start Service:</a:t>
            </a:r>
            <a:endParaRPr lang="en-IN" sz="1600" dirty="0">
              <a:effectLst/>
              <a:latin typeface="Cambria" panose="02040503050406030204" pitchFamily="18" charset="0"/>
              <a:ea typeface="MS Mincho" panose="02020609040205080304" pitchFamily="49" charset="-128"/>
              <a:cs typeface="Times New Roman" panose="02020603050405020304" pitchFamily="18" charset="0"/>
            </a:endParaRPr>
          </a:p>
          <a:p>
            <a:pPr marL="498475">
              <a:lnSpc>
                <a:spcPct val="115000"/>
              </a:lnSpc>
              <a:buNone/>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err="1">
                <a:effectLst/>
                <a:latin typeface="Times New Roman" panose="02020603050405020304" pitchFamily="18" charset="0"/>
                <a:ea typeface="Times New Roman" panose="02020603050405020304" pitchFamily="18" charset="0"/>
                <a:cs typeface="Times New Roman" panose="02020603050405020304" pitchFamily="18" charset="0"/>
              </a:rPr>
              <a:t>sudo</a:t>
            </a: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err="1">
                <a:effectLst/>
                <a:latin typeface="Times New Roman" panose="02020603050405020304" pitchFamily="18" charset="0"/>
                <a:ea typeface="Times New Roman" panose="02020603050405020304" pitchFamily="18" charset="0"/>
                <a:cs typeface="Times New Roman" panose="02020603050405020304" pitchFamily="18" charset="0"/>
              </a:rPr>
              <a:t>systemctl</a:t>
            </a: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 enable dcc-portal</a:t>
            </a:r>
            <a:endParaRPr lang="en-IN" sz="1600" dirty="0">
              <a:effectLst/>
              <a:latin typeface="Cambria" panose="02040503050406030204" pitchFamily="18" charset="0"/>
              <a:ea typeface="MS Mincho" panose="02020609040205080304" pitchFamily="49" charset="-128"/>
              <a:cs typeface="Times New Roman" panose="02020603050405020304" pitchFamily="18" charset="0"/>
            </a:endParaRPr>
          </a:p>
          <a:p>
            <a:pPr marL="498475">
              <a:lnSpc>
                <a:spcPct val="115000"/>
              </a:lnSpc>
              <a:buNone/>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err="1">
                <a:effectLst/>
                <a:latin typeface="Times New Roman" panose="02020603050405020304" pitchFamily="18" charset="0"/>
                <a:ea typeface="Times New Roman" panose="02020603050405020304" pitchFamily="18" charset="0"/>
                <a:cs typeface="Times New Roman" panose="02020603050405020304" pitchFamily="18" charset="0"/>
              </a:rPr>
              <a:t>sudo</a:t>
            </a: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err="1">
                <a:effectLst/>
                <a:latin typeface="Times New Roman" panose="02020603050405020304" pitchFamily="18" charset="0"/>
                <a:ea typeface="Times New Roman" panose="02020603050405020304" pitchFamily="18" charset="0"/>
                <a:cs typeface="Times New Roman" panose="02020603050405020304" pitchFamily="18" charset="0"/>
              </a:rPr>
              <a:t>systemctl</a:t>
            </a: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 start dcc-portal</a:t>
            </a:r>
            <a:endParaRPr lang="en-IN" sz="1600" dirty="0">
              <a:effectLst/>
              <a:latin typeface="Cambria" panose="02040503050406030204" pitchFamily="18" charset="0"/>
              <a:ea typeface="MS Mincho" panose="02020609040205080304" pitchFamily="49" charset="-128"/>
              <a:cs typeface="Times New Roman" panose="02020603050405020304" pitchFamily="18" charset="0"/>
            </a:endParaRPr>
          </a:p>
          <a:p>
            <a:pPr marL="498475">
              <a:lnSpc>
                <a:spcPts val="1500"/>
              </a:lnSpc>
              <a:spcAft>
                <a:spcPts val="1000"/>
              </a:spcAft>
              <a:buNone/>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err="1">
                <a:effectLst/>
                <a:latin typeface="Times New Roman" panose="02020603050405020304" pitchFamily="18" charset="0"/>
                <a:ea typeface="Times New Roman" panose="02020603050405020304" pitchFamily="18" charset="0"/>
                <a:cs typeface="Times New Roman" panose="02020603050405020304" pitchFamily="18" charset="0"/>
              </a:rPr>
              <a:t>sudo</a:t>
            </a: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err="1">
                <a:effectLst/>
                <a:latin typeface="Times New Roman" panose="02020603050405020304" pitchFamily="18" charset="0"/>
                <a:ea typeface="Times New Roman" panose="02020603050405020304" pitchFamily="18" charset="0"/>
                <a:cs typeface="Times New Roman" panose="02020603050405020304" pitchFamily="18" charset="0"/>
              </a:rPr>
              <a:t>systemctl</a:t>
            </a: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 status dcc-portal</a:t>
            </a:r>
            <a:endParaRPr lang="en-IN" sz="1600" dirty="0">
              <a:effectLst/>
              <a:latin typeface="Cambria" panose="02040503050406030204" pitchFamily="18" charset="0"/>
              <a:ea typeface="MS Mincho" panose="02020609040205080304" pitchFamily="49" charset="-128"/>
              <a:cs typeface="Times New Roman" panose="02020603050405020304" pitchFamily="18" charset="0"/>
            </a:endParaRPr>
          </a:p>
        </p:txBody>
      </p:sp>
      <p:sp>
        <p:nvSpPr>
          <p:cNvPr id="7" name="Text 0">
            <a:extLst>
              <a:ext uri="{FF2B5EF4-FFF2-40B4-BE49-F238E27FC236}">
                <a16:creationId xmlns:a16="http://schemas.microsoft.com/office/drawing/2014/main" id="{300D4EAE-0A6A-2F47-21D4-C26BAF30AFD9}"/>
              </a:ext>
            </a:extLst>
          </p:cNvPr>
          <p:cNvSpPr/>
          <p:nvPr/>
        </p:nvSpPr>
        <p:spPr>
          <a:xfrm>
            <a:off x="375927" y="193332"/>
            <a:ext cx="4788337" cy="598527"/>
          </a:xfrm>
          <a:prstGeom prst="rect">
            <a:avLst/>
          </a:prstGeom>
          <a:noFill/>
          <a:ln/>
        </p:spPr>
        <p:txBody>
          <a:bodyPr wrap="none" lIns="0" tIns="0" rIns="0" bIns="0" rtlCol="0" anchor="t"/>
          <a:lstStyle/>
          <a:p>
            <a:pPr marL="571500" indent="-571500">
              <a:buFont typeface="Wingdings" panose="05000000000000000000" pitchFamily="2" charset="2"/>
              <a:buChar char="q"/>
            </a:pPr>
            <a:r>
              <a:rPr lang="en-IN" sz="3600" b="1" u="sng" dirty="0"/>
              <a:t>Deployment Steps:</a:t>
            </a:r>
            <a:endParaRPr lang="en-IN" sz="3600" u="sng" dirty="0"/>
          </a:p>
        </p:txBody>
      </p:sp>
    </p:spTree>
    <p:extLst>
      <p:ext uri="{BB962C8B-B14F-4D97-AF65-F5344CB8AC3E}">
        <p14:creationId xmlns:p14="http://schemas.microsoft.com/office/powerpoint/2010/main" val="39569952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2BBC3-6A27-5A26-4ED9-74AC8AF49430}"/>
            </a:ext>
          </a:extLst>
        </p:cNvPr>
        <p:cNvGrpSpPr/>
        <p:nvPr/>
      </p:nvGrpSpPr>
      <p:grpSpPr>
        <a:xfrm>
          <a:off x="0" y="0"/>
          <a:ext cx="0" cy="0"/>
          <a:chOff x="0" y="0"/>
          <a:chExt cx="0" cy="0"/>
        </a:xfrm>
      </p:grpSpPr>
      <p:sp>
        <p:nvSpPr>
          <p:cNvPr id="5" name="Text 0">
            <a:extLst>
              <a:ext uri="{FF2B5EF4-FFF2-40B4-BE49-F238E27FC236}">
                <a16:creationId xmlns:a16="http://schemas.microsoft.com/office/drawing/2014/main" id="{FCEAFA42-7990-308C-3919-52C467AD6B0E}"/>
              </a:ext>
            </a:extLst>
          </p:cNvPr>
          <p:cNvSpPr/>
          <p:nvPr/>
        </p:nvSpPr>
        <p:spPr>
          <a:xfrm>
            <a:off x="375927" y="193332"/>
            <a:ext cx="4788337" cy="598527"/>
          </a:xfrm>
          <a:prstGeom prst="rect">
            <a:avLst/>
          </a:prstGeom>
          <a:noFill/>
          <a:ln/>
        </p:spPr>
        <p:txBody>
          <a:bodyPr wrap="none" lIns="0" tIns="0" rIns="0" bIns="0" rtlCol="0" anchor="t"/>
          <a:lstStyle/>
          <a:p>
            <a:pPr marL="571500" indent="-571500">
              <a:buFont typeface="Wingdings" panose="05000000000000000000" pitchFamily="2" charset="2"/>
              <a:buChar char="q"/>
            </a:pPr>
            <a:r>
              <a:rPr lang="en-IN" sz="3600" b="1" u="sng" dirty="0"/>
              <a:t>.env File Content:</a:t>
            </a:r>
            <a:endParaRPr lang="en-IN" sz="3600" u="sng" dirty="0"/>
          </a:p>
        </p:txBody>
      </p:sp>
      <p:sp>
        <p:nvSpPr>
          <p:cNvPr id="6" name="Rectangle 5">
            <a:extLst>
              <a:ext uri="{FF2B5EF4-FFF2-40B4-BE49-F238E27FC236}">
                <a16:creationId xmlns:a16="http://schemas.microsoft.com/office/drawing/2014/main" id="{31D1173D-E07C-E184-927C-04778865FC78}"/>
              </a:ext>
            </a:extLst>
          </p:cNvPr>
          <p:cNvSpPr/>
          <p:nvPr/>
        </p:nvSpPr>
        <p:spPr>
          <a:xfrm>
            <a:off x="12748590" y="7686260"/>
            <a:ext cx="1881809" cy="543339"/>
          </a:xfrm>
          <a:prstGeom prst="rect">
            <a:avLst/>
          </a:prstGeom>
          <a:solidFill>
            <a:srgbClr val="F9F8F5"/>
          </a:solidFill>
          <a:ln>
            <a:solidFill>
              <a:srgbClr val="F9F8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026A54F3-C105-2E8C-41EB-343ED4E03B60}"/>
              </a:ext>
            </a:extLst>
          </p:cNvPr>
          <p:cNvSpPr txBox="1"/>
          <p:nvPr/>
        </p:nvSpPr>
        <p:spPr>
          <a:xfrm>
            <a:off x="218661" y="1064047"/>
            <a:ext cx="14193077" cy="6754734"/>
          </a:xfrm>
          <a:prstGeom prst="rect">
            <a:avLst/>
          </a:prstGeom>
          <a:noFill/>
        </p:spPr>
        <p:txBody>
          <a:bodyPr wrap="square">
            <a:spAutoFit/>
          </a:bodyPr>
          <a:lstStyle/>
          <a:p>
            <a:pPr marL="342900" lvl="0" indent="-342900">
              <a:lnSpc>
                <a:spcPct val="115000"/>
              </a:lnSpc>
              <a:buFont typeface="Symbol" panose="05050102010706020507" pitchFamily="18" charset="2"/>
              <a:buChar char=""/>
            </a:pPr>
            <a:r>
              <a:rPr lang="en-IN" sz="1800" dirty="0">
                <a:effectLst/>
                <a:latin typeface="Cambria" panose="02040503050406030204" pitchFamily="18" charset="0"/>
                <a:ea typeface="MS Mincho" panose="02020609040205080304" pitchFamily="49" charset="-128"/>
                <a:cs typeface="Times New Roman" panose="02020603050405020304" pitchFamily="18" charset="0"/>
              </a:rPr>
              <a:t>AZURE_API_KEY : here define the azure document intelligence </a:t>
            </a:r>
            <a:r>
              <a:rPr lang="en-IN" sz="1800" dirty="0" err="1">
                <a:effectLst/>
                <a:latin typeface="Cambria" panose="02040503050406030204" pitchFamily="18" charset="0"/>
                <a:ea typeface="MS Mincho" panose="02020609040205080304" pitchFamily="49" charset="-128"/>
                <a:cs typeface="Times New Roman" panose="02020603050405020304" pitchFamily="18" charset="0"/>
              </a:rPr>
              <a:t>api</a:t>
            </a:r>
            <a:r>
              <a:rPr lang="en-IN" sz="1800" dirty="0">
                <a:effectLst/>
                <a:latin typeface="Cambria" panose="02040503050406030204" pitchFamily="18" charset="0"/>
                <a:ea typeface="MS Mincho" panose="02020609040205080304" pitchFamily="49" charset="-128"/>
                <a:cs typeface="Times New Roman" panose="02020603050405020304" pitchFamily="18" charset="0"/>
              </a:rPr>
              <a:t> key </a:t>
            </a:r>
          </a:p>
          <a:p>
            <a:pPr marL="342900" lvl="0" indent="-342900">
              <a:lnSpc>
                <a:spcPct val="115000"/>
              </a:lnSpc>
              <a:buFont typeface="Symbol" panose="05050102010706020507" pitchFamily="18" charset="2"/>
              <a:buChar char=""/>
            </a:pPr>
            <a:r>
              <a:rPr lang="en-IN" sz="1800" dirty="0">
                <a:effectLst/>
                <a:latin typeface="Cambria" panose="02040503050406030204" pitchFamily="18" charset="0"/>
                <a:ea typeface="MS Mincho" panose="02020609040205080304" pitchFamily="49" charset="-128"/>
                <a:cs typeface="Times New Roman" panose="02020603050405020304" pitchFamily="18" charset="0"/>
              </a:rPr>
              <a:t>AZURE_ENDPOINT= define the azure resource end point</a:t>
            </a:r>
          </a:p>
          <a:p>
            <a:pPr marL="342900" lvl="0" indent="-342900">
              <a:lnSpc>
                <a:spcPct val="115000"/>
              </a:lnSpc>
              <a:buFont typeface="Symbol" panose="05050102010706020507" pitchFamily="18" charset="2"/>
              <a:buChar char=""/>
            </a:pPr>
            <a:r>
              <a:rPr lang="en-IN" sz="1800" dirty="0">
                <a:effectLst/>
                <a:latin typeface="Cambria" panose="02040503050406030204" pitchFamily="18" charset="0"/>
                <a:ea typeface="MS Mincho" panose="02020609040205080304" pitchFamily="49" charset="-128"/>
                <a:cs typeface="Times New Roman" panose="02020603050405020304" pitchFamily="18" charset="0"/>
              </a:rPr>
              <a:t>AZURE_OPENAI_ENDPOINT= define the azure open ai service end point</a:t>
            </a:r>
          </a:p>
          <a:p>
            <a:pPr marL="342900" lvl="0" indent="-342900">
              <a:lnSpc>
                <a:spcPct val="115000"/>
              </a:lnSpc>
              <a:buFont typeface="Symbol" panose="05050102010706020507" pitchFamily="18" charset="2"/>
              <a:buChar char=""/>
            </a:pPr>
            <a:r>
              <a:rPr lang="en-IN" sz="1800" dirty="0">
                <a:effectLst/>
                <a:latin typeface="Cambria" panose="02040503050406030204" pitchFamily="18" charset="0"/>
                <a:ea typeface="MS Mincho" panose="02020609040205080304" pitchFamily="49" charset="-128"/>
                <a:cs typeface="Times New Roman" panose="02020603050405020304" pitchFamily="18" charset="0"/>
              </a:rPr>
              <a:t>AZURE_OPENAI_KEY= define the secret key of azure open ai service </a:t>
            </a:r>
          </a:p>
          <a:p>
            <a:pPr marL="342900" lvl="0" indent="-342900">
              <a:lnSpc>
                <a:spcPct val="115000"/>
              </a:lnSpc>
              <a:buFont typeface="Symbol" panose="05050102010706020507" pitchFamily="18" charset="2"/>
              <a:buChar char=""/>
            </a:pPr>
            <a:r>
              <a:rPr lang="en-IN" sz="1800" dirty="0">
                <a:effectLst/>
                <a:latin typeface="Cambria" panose="02040503050406030204" pitchFamily="18" charset="0"/>
                <a:ea typeface="MS Mincho" panose="02020609040205080304" pitchFamily="49" charset="-128"/>
                <a:cs typeface="Times New Roman" panose="02020603050405020304" pitchFamily="18" charset="0"/>
              </a:rPr>
              <a:t>AZURE_OPENAI_DEPLOYMENT= here define the deployment name</a:t>
            </a:r>
          </a:p>
          <a:p>
            <a:pPr marL="342900" lvl="0" indent="-342900">
              <a:lnSpc>
                <a:spcPct val="115000"/>
              </a:lnSpc>
              <a:buFont typeface="Symbol" panose="05050102010706020507" pitchFamily="18" charset="2"/>
              <a:buChar char=""/>
            </a:pPr>
            <a:r>
              <a:rPr lang="en-IN" sz="1800" dirty="0">
                <a:effectLst/>
                <a:latin typeface="Cambria" panose="02040503050406030204" pitchFamily="18" charset="0"/>
                <a:ea typeface="MS Mincho" panose="02020609040205080304" pitchFamily="49" charset="-128"/>
                <a:cs typeface="Times New Roman" panose="02020603050405020304" pitchFamily="18" charset="0"/>
              </a:rPr>
              <a:t>CLIENT_SECRET= / CLIENT_ID = / TENANT_ID =  &gt;&gt; define the all key for read the email from azure cloud</a:t>
            </a:r>
          </a:p>
          <a:p>
            <a:pPr marL="342900" lvl="0" indent="-342900">
              <a:lnSpc>
                <a:spcPct val="115000"/>
              </a:lnSpc>
              <a:buFont typeface="Symbol" panose="05050102010706020507" pitchFamily="18" charset="2"/>
              <a:buChar char=""/>
            </a:pPr>
            <a:r>
              <a:rPr lang="en-IN" sz="1800" dirty="0">
                <a:effectLst/>
                <a:latin typeface="Cambria" panose="02040503050406030204" pitchFamily="18" charset="0"/>
                <a:ea typeface="MS Mincho" panose="02020609040205080304" pitchFamily="49" charset="-128"/>
                <a:cs typeface="Times New Roman" panose="02020603050405020304" pitchFamily="18" charset="0"/>
              </a:rPr>
              <a:t>SCOPES = ["https://graph.microsoft.com/.default"]</a:t>
            </a:r>
          </a:p>
          <a:p>
            <a:pPr marL="342900" lvl="0" indent="-342900">
              <a:lnSpc>
                <a:spcPct val="115000"/>
              </a:lnSpc>
              <a:buFont typeface="Symbol" panose="05050102010706020507" pitchFamily="18" charset="2"/>
              <a:buChar char=""/>
            </a:pPr>
            <a:r>
              <a:rPr lang="en-IN" sz="1800" dirty="0">
                <a:effectLst/>
                <a:latin typeface="Cambria" panose="02040503050406030204" pitchFamily="18" charset="0"/>
                <a:ea typeface="MS Mincho" panose="02020609040205080304" pitchFamily="49" charset="-128"/>
                <a:cs typeface="Times New Roman" panose="02020603050405020304" pitchFamily="18" charset="0"/>
              </a:rPr>
              <a:t>SCOPES_URL = </a:t>
            </a:r>
            <a:r>
              <a:rPr lang="en-IN" sz="1800" u="sng" dirty="0">
                <a:solidFill>
                  <a:srgbClr val="0000FF"/>
                </a:solidFill>
                <a:effectLst/>
                <a:latin typeface="Cambria" panose="02040503050406030204" pitchFamily="18" charset="0"/>
                <a:ea typeface="MS Mincho" panose="02020609040205080304" pitchFamily="49" charset="-128"/>
                <a:cs typeface="Times New Roman" panose="02020603050405020304" pitchFamily="18" charset="0"/>
                <a:hlinkClick r:id="rId3"/>
              </a:rPr>
              <a:t>https://graph.microsoft.com/.default</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marL="342900" lvl="0" indent="-342900">
              <a:lnSpc>
                <a:spcPct val="115000"/>
              </a:lnSpc>
              <a:buFont typeface="Symbol" panose="05050102010706020507" pitchFamily="18" charset="2"/>
              <a:buChar char=""/>
            </a:pPr>
            <a:r>
              <a:rPr lang="en-IN" sz="1800" dirty="0">
                <a:effectLst/>
                <a:latin typeface="Cambria" panose="02040503050406030204" pitchFamily="18" charset="0"/>
                <a:ea typeface="MS Mincho" panose="02020609040205080304" pitchFamily="49" charset="-128"/>
                <a:cs typeface="Times New Roman" panose="02020603050405020304" pitchFamily="18" charset="0"/>
              </a:rPr>
              <a:t>AT_EMAIL_PAGES = here set the limit of  page read from pdf like this “1-2” top 2 page read only from pdf but those pdf which process from email</a:t>
            </a:r>
          </a:p>
          <a:p>
            <a:pPr marL="342900" lvl="0" indent="-342900">
              <a:lnSpc>
                <a:spcPct val="115000"/>
              </a:lnSpc>
              <a:buFont typeface="Symbol" panose="05050102010706020507" pitchFamily="18" charset="2"/>
              <a:buChar char=""/>
            </a:pPr>
            <a:r>
              <a:rPr lang="en-IN" sz="1800" dirty="0">
                <a:effectLst/>
                <a:latin typeface="Cambria" panose="02040503050406030204" pitchFamily="18" charset="0"/>
                <a:ea typeface="MS Mincho" panose="02020609040205080304" pitchFamily="49" charset="-128"/>
                <a:cs typeface="Times New Roman" panose="02020603050405020304" pitchFamily="18" charset="0"/>
              </a:rPr>
              <a:t>AT_MANUAL_PAGES = here set the limit of  page read from pdf like this “1-5” top 5 page read only from pdf but those pdf which uploaded manually from the portal </a:t>
            </a:r>
          </a:p>
          <a:p>
            <a:pPr marL="342900" lvl="0" indent="-342900">
              <a:lnSpc>
                <a:spcPct val="115000"/>
              </a:lnSpc>
              <a:buFont typeface="Symbol" panose="05050102010706020507" pitchFamily="18" charset="2"/>
              <a:buChar char=""/>
            </a:pPr>
            <a:r>
              <a:rPr lang="en-IN" sz="1800" dirty="0">
                <a:effectLst/>
                <a:latin typeface="Cambria" panose="02040503050406030204" pitchFamily="18" charset="0"/>
                <a:ea typeface="MS Mincho" panose="02020609040205080304" pitchFamily="49" charset="-128"/>
                <a:cs typeface="Times New Roman" panose="02020603050405020304" pitchFamily="18" charset="0"/>
              </a:rPr>
              <a:t>SAP_BASE_URL = here define the base </a:t>
            </a:r>
            <a:r>
              <a:rPr lang="en-IN" sz="1800" dirty="0" err="1">
                <a:effectLst/>
                <a:latin typeface="Cambria" panose="02040503050406030204" pitchFamily="18" charset="0"/>
                <a:ea typeface="MS Mincho" panose="02020609040205080304" pitchFamily="49" charset="-128"/>
                <a:cs typeface="Times New Roman" panose="02020603050405020304" pitchFamily="18" charset="0"/>
              </a:rPr>
              <a:t>url</a:t>
            </a:r>
            <a:r>
              <a:rPr lang="en-IN" sz="1800" dirty="0">
                <a:effectLst/>
                <a:latin typeface="Cambria" panose="02040503050406030204" pitchFamily="18" charset="0"/>
                <a:ea typeface="MS Mincho" panose="02020609040205080304" pitchFamily="49" charset="-128"/>
                <a:cs typeface="Times New Roman" panose="02020603050405020304" pitchFamily="18" charset="0"/>
              </a:rPr>
              <a:t> of Fiori app </a:t>
            </a:r>
          </a:p>
          <a:p>
            <a:pPr marL="342900" lvl="0" indent="-342900">
              <a:lnSpc>
                <a:spcPct val="115000"/>
              </a:lnSpc>
              <a:buFont typeface="Symbol" panose="05050102010706020507" pitchFamily="18" charset="2"/>
              <a:buChar char=""/>
            </a:pPr>
            <a:r>
              <a:rPr lang="en-IN" sz="1800" dirty="0">
                <a:effectLst/>
                <a:latin typeface="Cambria" panose="02040503050406030204" pitchFamily="18" charset="0"/>
                <a:ea typeface="MS Mincho" panose="02020609040205080304" pitchFamily="49" charset="-128"/>
                <a:cs typeface="Times New Roman" panose="02020603050405020304" pitchFamily="18" charset="0"/>
              </a:rPr>
              <a:t>SAP_CLIENT = define the client of sap application</a:t>
            </a:r>
          </a:p>
          <a:p>
            <a:pPr marL="342900" lvl="0" indent="-342900">
              <a:lnSpc>
                <a:spcPct val="115000"/>
              </a:lnSpc>
              <a:buFont typeface="Symbol" panose="05050102010706020507" pitchFamily="18" charset="2"/>
              <a:buChar char=""/>
            </a:pPr>
            <a:r>
              <a:rPr lang="en-IN" sz="1800" dirty="0">
                <a:effectLst/>
                <a:latin typeface="Cambria" panose="02040503050406030204" pitchFamily="18" charset="0"/>
                <a:ea typeface="MS Mincho" panose="02020609040205080304" pitchFamily="49" charset="-128"/>
                <a:cs typeface="Times New Roman" panose="02020603050405020304" pitchFamily="18" charset="0"/>
              </a:rPr>
              <a:t>SAP_USERNAME = / SAP_PASSWORD = define the sap application username and password</a:t>
            </a:r>
          </a:p>
          <a:p>
            <a:pPr marL="342900" lvl="0" indent="-342900">
              <a:lnSpc>
                <a:spcPct val="115000"/>
              </a:lnSpc>
              <a:buFont typeface="Symbol" panose="05050102010706020507" pitchFamily="18" charset="2"/>
              <a:buChar char=""/>
            </a:pPr>
            <a:r>
              <a:rPr lang="en-IN" sz="1800" dirty="0">
                <a:effectLst/>
                <a:latin typeface="Cambria" panose="02040503050406030204" pitchFamily="18" charset="0"/>
                <a:ea typeface="MS Mincho" panose="02020609040205080304" pitchFamily="49" charset="-128"/>
                <a:cs typeface="Times New Roman" panose="02020603050405020304" pitchFamily="18" charset="0"/>
              </a:rPr>
              <a:t>USER_ID = here define that email id from read the invoice like </a:t>
            </a:r>
            <a:r>
              <a:rPr lang="en-IN" sz="1800" u="sng" dirty="0">
                <a:solidFill>
                  <a:srgbClr val="0000FF"/>
                </a:solidFill>
                <a:effectLst/>
                <a:latin typeface="Cambria" panose="02040503050406030204" pitchFamily="18" charset="0"/>
                <a:ea typeface="MS Mincho" panose="02020609040205080304" pitchFamily="49" charset="-128"/>
                <a:cs typeface="Times New Roman" panose="02020603050405020304" pitchFamily="18" charset="0"/>
                <a:hlinkClick r:id="rId4"/>
              </a:rPr>
              <a:t>dcctest@torrentgas.com</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marL="342900" lvl="0" indent="-342900">
              <a:lnSpc>
                <a:spcPct val="115000"/>
              </a:lnSpc>
              <a:buFont typeface="Symbol" panose="05050102010706020507" pitchFamily="18" charset="2"/>
              <a:buChar char=""/>
            </a:pPr>
            <a:r>
              <a:rPr lang="en-IN" sz="1800" dirty="0">
                <a:effectLst/>
                <a:latin typeface="Cambria" panose="02040503050406030204" pitchFamily="18" charset="0"/>
                <a:ea typeface="MS Mincho" panose="02020609040205080304" pitchFamily="49" charset="-128"/>
                <a:cs typeface="Times New Roman" panose="02020603050405020304" pitchFamily="18" charset="0"/>
              </a:rPr>
              <a:t>IMAGE_EXTS=["jpeg","</a:t>
            </a:r>
            <a:r>
              <a:rPr lang="en-IN" sz="1800" dirty="0" err="1">
                <a:effectLst/>
                <a:latin typeface="Cambria" panose="02040503050406030204" pitchFamily="18" charset="0"/>
                <a:ea typeface="MS Mincho" panose="02020609040205080304" pitchFamily="49" charset="-128"/>
                <a:cs typeface="Times New Roman" panose="02020603050405020304" pitchFamily="18" charset="0"/>
              </a:rPr>
              <a:t>png</a:t>
            </a:r>
            <a:r>
              <a:rPr lang="en-IN" sz="1800" dirty="0">
                <a:effectLst/>
                <a:latin typeface="Cambria" panose="02040503050406030204" pitchFamily="18" charset="0"/>
                <a:ea typeface="MS Mincho" panose="02020609040205080304" pitchFamily="49" charset="-128"/>
                <a:cs typeface="Times New Roman" panose="02020603050405020304" pitchFamily="18" charset="0"/>
              </a:rPr>
              <a:t>","jpg"]</a:t>
            </a:r>
          </a:p>
          <a:p>
            <a:pPr marL="342900" lvl="0" indent="-342900">
              <a:lnSpc>
                <a:spcPct val="115000"/>
              </a:lnSpc>
              <a:buFont typeface="Symbol" panose="05050102010706020507" pitchFamily="18" charset="2"/>
              <a:buChar char=""/>
            </a:pPr>
            <a:r>
              <a:rPr lang="en-IN" sz="1800" dirty="0">
                <a:effectLst/>
                <a:latin typeface="Cambria" panose="02040503050406030204" pitchFamily="18" charset="0"/>
                <a:ea typeface="MS Mincho" panose="02020609040205080304" pitchFamily="49" charset="-128"/>
                <a:cs typeface="Times New Roman" panose="02020603050405020304" pitchFamily="18" charset="0"/>
              </a:rPr>
              <a:t>Z_TABLE_DATA_STORE_ENTETY_SET_NAME="</a:t>
            </a:r>
            <a:r>
              <a:rPr lang="en-IN" sz="1800" dirty="0" err="1">
                <a:effectLst/>
                <a:latin typeface="Cambria" panose="02040503050406030204" pitchFamily="18" charset="0"/>
                <a:ea typeface="MS Mincho" panose="02020609040205080304" pitchFamily="49" charset="-128"/>
                <a:cs typeface="Times New Roman" panose="02020603050405020304" pitchFamily="18" charset="0"/>
              </a:rPr>
              <a:t>ZFI_DCC_HEADERSet</a:t>
            </a:r>
            <a:r>
              <a:rPr lang="en-IN" sz="1800" dirty="0">
                <a:effectLst/>
                <a:latin typeface="Cambria" panose="02040503050406030204" pitchFamily="18" charset="0"/>
                <a:ea typeface="MS Mincho" panose="02020609040205080304" pitchFamily="49" charset="-128"/>
                <a:cs typeface="Times New Roman" panose="02020603050405020304" pitchFamily="18" charset="0"/>
              </a:rPr>
              <a:t>"</a:t>
            </a:r>
          </a:p>
          <a:p>
            <a:pPr marL="342900" lvl="0" indent="-342900">
              <a:lnSpc>
                <a:spcPct val="115000"/>
              </a:lnSpc>
              <a:buFont typeface="Symbol" panose="05050102010706020507" pitchFamily="18" charset="2"/>
              <a:buChar char=""/>
            </a:pPr>
            <a:r>
              <a:rPr lang="en-IN" sz="1800" dirty="0">
                <a:effectLst/>
                <a:latin typeface="Cambria" panose="02040503050406030204" pitchFamily="18" charset="0"/>
                <a:ea typeface="MS Mincho" panose="02020609040205080304" pitchFamily="49" charset="-128"/>
                <a:cs typeface="Times New Roman" panose="02020603050405020304" pitchFamily="18" charset="0"/>
              </a:rPr>
              <a:t>DMS_DOCUMENT_SAVE_ENTETY_SET_NAME="</a:t>
            </a:r>
            <a:r>
              <a:rPr lang="en-IN" sz="1800" dirty="0" err="1">
                <a:effectLst/>
                <a:latin typeface="Cambria" panose="02040503050406030204" pitchFamily="18" charset="0"/>
                <a:ea typeface="MS Mincho" panose="02020609040205080304" pitchFamily="49" charset="-128"/>
                <a:cs typeface="Times New Roman" panose="02020603050405020304" pitchFamily="18" charset="0"/>
              </a:rPr>
              <a:t>AttachmentSet</a:t>
            </a:r>
            <a:r>
              <a:rPr lang="en-IN" sz="1800" dirty="0">
                <a:effectLst/>
                <a:latin typeface="Cambria" panose="02040503050406030204" pitchFamily="18" charset="0"/>
                <a:ea typeface="MS Mincho" panose="02020609040205080304" pitchFamily="49" charset="-128"/>
                <a:cs typeface="Times New Roman" panose="02020603050405020304" pitchFamily="18" charset="0"/>
              </a:rPr>
              <a:t>"</a:t>
            </a:r>
          </a:p>
          <a:p>
            <a:pPr marL="342900" lvl="0" indent="-342900">
              <a:lnSpc>
                <a:spcPct val="115000"/>
              </a:lnSpc>
              <a:buFont typeface="Symbol" panose="05050102010706020507" pitchFamily="18" charset="2"/>
              <a:buChar char=""/>
            </a:pPr>
            <a:r>
              <a:rPr lang="en-IN" sz="1800" dirty="0">
                <a:effectLst/>
                <a:latin typeface="Cambria" panose="02040503050406030204" pitchFamily="18" charset="0"/>
                <a:ea typeface="MS Mincho" panose="02020609040205080304" pitchFamily="49" charset="-128"/>
                <a:cs typeface="Times New Roman" panose="02020603050405020304" pitchFamily="18" charset="0"/>
              </a:rPr>
              <a:t>GET_PAN_NUMBERS_ENTETY_SET_NAME="</a:t>
            </a:r>
            <a:r>
              <a:rPr lang="en-IN" sz="1800" dirty="0" err="1">
                <a:effectLst/>
                <a:latin typeface="Cambria" panose="02040503050406030204" pitchFamily="18" charset="0"/>
                <a:ea typeface="MS Mincho" panose="02020609040205080304" pitchFamily="49" charset="-128"/>
                <a:cs typeface="Times New Roman" panose="02020603050405020304" pitchFamily="18" charset="0"/>
              </a:rPr>
              <a:t>PanNo_DetailsSet</a:t>
            </a:r>
            <a:r>
              <a:rPr lang="en-IN" sz="1800" dirty="0">
                <a:effectLst/>
                <a:latin typeface="Cambria" panose="02040503050406030204" pitchFamily="18" charset="0"/>
                <a:ea typeface="MS Mincho" panose="02020609040205080304" pitchFamily="49" charset="-128"/>
                <a:cs typeface="Times New Roman" panose="02020603050405020304" pitchFamily="18" charset="0"/>
              </a:rPr>
              <a:t>"</a:t>
            </a:r>
          </a:p>
          <a:p>
            <a:pPr marL="342900" lvl="0" indent="-342900">
              <a:lnSpc>
                <a:spcPct val="115000"/>
              </a:lnSpc>
              <a:spcAft>
                <a:spcPts val="1000"/>
              </a:spcAft>
              <a:buFont typeface="Symbol" panose="05050102010706020507" pitchFamily="18" charset="2"/>
              <a:buChar char=""/>
            </a:pPr>
            <a:r>
              <a:rPr lang="en-IN" sz="1800" dirty="0">
                <a:effectLst/>
                <a:latin typeface="Cambria" panose="02040503050406030204" pitchFamily="18" charset="0"/>
                <a:ea typeface="MS Mincho" panose="02020609040205080304" pitchFamily="49" charset="-128"/>
                <a:cs typeface="Times New Roman" panose="02020603050405020304" pitchFamily="18" charset="0"/>
              </a:rPr>
              <a:t>GET_PO_NUMBERS_ENTETY_SET_NAME="</a:t>
            </a:r>
            <a:r>
              <a:rPr lang="en-IN" sz="1800" dirty="0" err="1">
                <a:effectLst/>
                <a:latin typeface="Cambria" panose="02040503050406030204" pitchFamily="18" charset="0"/>
                <a:ea typeface="MS Mincho" panose="02020609040205080304" pitchFamily="49" charset="-128"/>
                <a:cs typeface="Times New Roman" panose="02020603050405020304" pitchFamily="18" charset="0"/>
              </a:rPr>
              <a:t>PoCheckSet</a:t>
            </a:r>
            <a:r>
              <a:rPr lang="en-IN" sz="1800" dirty="0">
                <a:effectLst/>
                <a:latin typeface="Cambria" panose="02040503050406030204" pitchFamily="18" charset="0"/>
                <a:ea typeface="MS Mincho" panose="02020609040205080304" pitchFamily="49" charset="-128"/>
                <a:cs typeface="Times New Roman" panose="02020603050405020304" pitchFamily="18" charset="0"/>
              </a:rPr>
              <a:t>?$filter="</a:t>
            </a:r>
          </a:p>
        </p:txBody>
      </p:sp>
    </p:spTree>
    <p:extLst>
      <p:ext uri="{BB962C8B-B14F-4D97-AF65-F5344CB8AC3E}">
        <p14:creationId xmlns:p14="http://schemas.microsoft.com/office/powerpoint/2010/main" val="25087715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F0325-AC17-649E-98ED-3DC4E3F8FAF2}"/>
            </a:ext>
          </a:extLst>
        </p:cNvPr>
        <p:cNvGrpSpPr/>
        <p:nvPr/>
      </p:nvGrpSpPr>
      <p:grpSpPr>
        <a:xfrm>
          <a:off x="0" y="0"/>
          <a:ext cx="0" cy="0"/>
          <a:chOff x="0" y="0"/>
          <a:chExt cx="0" cy="0"/>
        </a:xfrm>
      </p:grpSpPr>
      <p:sp>
        <p:nvSpPr>
          <p:cNvPr id="5" name="Text 0">
            <a:extLst>
              <a:ext uri="{FF2B5EF4-FFF2-40B4-BE49-F238E27FC236}">
                <a16:creationId xmlns:a16="http://schemas.microsoft.com/office/drawing/2014/main" id="{6B283739-D911-227C-5DB3-D3D722B622BE}"/>
              </a:ext>
            </a:extLst>
          </p:cNvPr>
          <p:cNvSpPr/>
          <p:nvPr/>
        </p:nvSpPr>
        <p:spPr>
          <a:xfrm>
            <a:off x="375927" y="193332"/>
            <a:ext cx="4788337" cy="598527"/>
          </a:xfrm>
          <a:prstGeom prst="rect">
            <a:avLst/>
          </a:prstGeom>
          <a:noFill/>
          <a:ln/>
        </p:spPr>
        <p:txBody>
          <a:bodyPr wrap="none" lIns="0" tIns="0" rIns="0" bIns="0" rtlCol="0" anchor="t"/>
          <a:lstStyle/>
          <a:p>
            <a:pPr marL="571500" indent="-571500">
              <a:buFont typeface="Wingdings" panose="05000000000000000000" pitchFamily="2" charset="2"/>
              <a:buChar char="q"/>
            </a:pPr>
            <a:r>
              <a:rPr lang="en-IN" sz="3600" b="1" u="sng" dirty="0"/>
              <a:t>.env File Content:</a:t>
            </a:r>
            <a:endParaRPr lang="en-IN" sz="3600" u="sng" dirty="0"/>
          </a:p>
        </p:txBody>
      </p:sp>
      <p:sp>
        <p:nvSpPr>
          <p:cNvPr id="6" name="Rectangle 5">
            <a:extLst>
              <a:ext uri="{FF2B5EF4-FFF2-40B4-BE49-F238E27FC236}">
                <a16:creationId xmlns:a16="http://schemas.microsoft.com/office/drawing/2014/main" id="{6097EDC5-AFE2-F567-73C3-B095D86A017C}"/>
              </a:ext>
            </a:extLst>
          </p:cNvPr>
          <p:cNvSpPr/>
          <p:nvPr/>
        </p:nvSpPr>
        <p:spPr>
          <a:xfrm>
            <a:off x="12748590" y="7686260"/>
            <a:ext cx="1881809" cy="543339"/>
          </a:xfrm>
          <a:prstGeom prst="rect">
            <a:avLst/>
          </a:prstGeom>
          <a:solidFill>
            <a:srgbClr val="F9F8F5"/>
          </a:solidFill>
          <a:ln>
            <a:solidFill>
              <a:srgbClr val="F9F8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Picture 1">
            <a:extLst>
              <a:ext uri="{FF2B5EF4-FFF2-40B4-BE49-F238E27FC236}">
                <a16:creationId xmlns:a16="http://schemas.microsoft.com/office/drawing/2014/main" id="{05F0BD2B-7D1B-CA93-3659-8CD51C30E89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609" y="1343516"/>
            <a:ext cx="12547981" cy="6614413"/>
          </a:xfrm>
          <a:prstGeom prst="rect">
            <a:avLst/>
          </a:prstGeom>
          <a:noFill/>
          <a:ln>
            <a:noFill/>
          </a:ln>
        </p:spPr>
      </p:pic>
    </p:spTree>
    <p:extLst>
      <p:ext uri="{BB962C8B-B14F-4D97-AF65-F5344CB8AC3E}">
        <p14:creationId xmlns:p14="http://schemas.microsoft.com/office/powerpoint/2010/main" val="3537451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7F767-4A2E-CAF9-FF16-4126C01CA7ED}"/>
            </a:ext>
          </a:extLst>
        </p:cNvPr>
        <p:cNvGrpSpPr/>
        <p:nvPr/>
      </p:nvGrpSpPr>
      <p:grpSpPr>
        <a:xfrm>
          <a:off x="0" y="0"/>
          <a:ext cx="0" cy="0"/>
          <a:chOff x="0" y="0"/>
          <a:chExt cx="0" cy="0"/>
        </a:xfrm>
      </p:grpSpPr>
      <p:sp>
        <p:nvSpPr>
          <p:cNvPr id="5" name="Text 0">
            <a:extLst>
              <a:ext uri="{FF2B5EF4-FFF2-40B4-BE49-F238E27FC236}">
                <a16:creationId xmlns:a16="http://schemas.microsoft.com/office/drawing/2014/main" id="{13E50CC9-6D4A-6635-A0A4-7D6A82FBC330}"/>
              </a:ext>
            </a:extLst>
          </p:cNvPr>
          <p:cNvSpPr/>
          <p:nvPr/>
        </p:nvSpPr>
        <p:spPr>
          <a:xfrm>
            <a:off x="375927" y="193332"/>
            <a:ext cx="4788337" cy="598527"/>
          </a:xfrm>
          <a:prstGeom prst="rect">
            <a:avLst/>
          </a:prstGeom>
          <a:noFill/>
          <a:ln/>
        </p:spPr>
        <p:txBody>
          <a:bodyPr wrap="none" lIns="0" tIns="0" rIns="0" bIns="0" rtlCol="0" anchor="t"/>
          <a:lstStyle/>
          <a:p>
            <a:pPr marL="571500" indent="-571500">
              <a:buFont typeface="Wingdings" panose="05000000000000000000" pitchFamily="2" charset="2"/>
              <a:buChar char="q"/>
            </a:pPr>
            <a:r>
              <a:rPr lang="en-IN" sz="3600" b="1" u="sng" dirty="0"/>
              <a:t>UPDATE .env File Content:</a:t>
            </a:r>
            <a:endParaRPr lang="en-IN" sz="3600" u="sng" dirty="0"/>
          </a:p>
        </p:txBody>
      </p:sp>
      <p:sp>
        <p:nvSpPr>
          <p:cNvPr id="6" name="Rectangle 5">
            <a:extLst>
              <a:ext uri="{FF2B5EF4-FFF2-40B4-BE49-F238E27FC236}">
                <a16:creationId xmlns:a16="http://schemas.microsoft.com/office/drawing/2014/main" id="{95BB84F1-6720-0591-D0A3-E95C2E986103}"/>
              </a:ext>
            </a:extLst>
          </p:cNvPr>
          <p:cNvSpPr/>
          <p:nvPr/>
        </p:nvSpPr>
        <p:spPr>
          <a:xfrm>
            <a:off x="12748590" y="7686260"/>
            <a:ext cx="1881809" cy="543339"/>
          </a:xfrm>
          <a:prstGeom prst="rect">
            <a:avLst/>
          </a:prstGeom>
          <a:solidFill>
            <a:srgbClr val="F9F8F5"/>
          </a:solidFill>
          <a:ln>
            <a:solidFill>
              <a:srgbClr val="F9F8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B82AB74B-674F-1280-91A2-611036FC1B00}"/>
              </a:ext>
            </a:extLst>
          </p:cNvPr>
          <p:cNvSpPr txBox="1"/>
          <p:nvPr/>
        </p:nvSpPr>
        <p:spPr>
          <a:xfrm>
            <a:off x="874643" y="1104252"/>
            <a:ext cx="12775095" cy="400110"/>
          </a:xfrm>
          <a:prstGeom prst="rect">
            <a:avLst/>
          </a:prstGeom>
          <a:noFill/>
        </p:spPr>
        <p:txBody>
          <a:bodyPr wrap="square" rtlCol="0">
            <a:spAutoFit/>
          </a:bodyPr>
          <a:lstStyle/>
          <a:p>
            <a:pPr marL="342900" indent="-342900">
              <a:buFont typeface="Wingdings" panose="05000000000000000000" pitchFamily="2" charset="2"/>
              <a:buChar char="v"/>
            </a:pPr>
            <a:r>
              <a:rPr lang="en-GB" sz="2000" u="sng" dirty="0">
                <a:solidFill>
                  <a:srgbClr val="FF0000"/>
                </a:solidFill>
              </a:rPr>
              <a:t>If any key expired or want to update the key value, using this </a:t>
            </a:r>
            <a:r>
              <a:rPr lang="en-GB" sz="2000" u="sng" dirty="0" err="1">
                <a:solidFill>
                  <a:srgbClr val="FF0000"/>
                </a:solidFill>
              </a:rPr>
              <a:t>url</a:t>
            </a:r>
            <a:r>
              <a:rPr lang="en-GB" sz="2000" u="sng" dirty="0">
                <a:solidFill>
                  <a:srgbClr val="FF0000"/>
                </a:solidFill>
              </a:rPr>
              <a:t> can do it </a:t>
            </a:r>
            <a:r>
              <a:rPr lang="en-GB" sz="2000" b="1" u="sng" dirty="0">
                <a:solidFill>
                  <a:schemeClr val="accent1"/>
                </a:solidFill>
              </a:rPr>
              <a:t>/env-configuration</a:t>
            </a:r>
            <a:r>
              <a:rPr lang="en-GB" sz="2000" u="sng" dirty="0">
                <a:solidFill>
                  <a:schemeClr val="accent1"/>
                </a:solidFill>
              </a:rPr>
              <a:t>   </a:t>
            </a:r>
            <a:endParaRPr lang="en-IN" sz="2000" u="sng" dirty="0">
              <a:solidFill>
                <a:schemeClr val="accent1"/>
              </a:solidFill>
            </a:endParaRPr>
          </a:p>
        </p:txBody>
      </p:sp>
      <p:pic>
        <p:nvPicPr>
          <p:cNvPr id="7" name="Picture 6">
            <a:extLst>
              <a:ext uri="{FF2B5EF4-FFF2-40B4-BE49-F238E27FC236}">
                <a16:creationId xmlns:a16="http://schemas.microsoft.com/office/drawing/2014/main" id="{390E2576-E00A-30AE-B679-35C1266FAC4C}"/>
              </a:ext>
            </a:extLst>
          </p:cNvPr>
          <p:cNvPicPr>
            <a:picLocks noChangeAspect="1"/>
          </p:cNvPicPr>
          <p:nvPr/>
        </p:nvPicPr>
        <p:blipFill>
          <a:blip r:embed="rId3"/>
          <a:stretch>
            <a:fillRect/>
          </a:stretch>
        </p:blipFill>
        <p:spPr>
          <a:xfrm>
            <a:off x="375927" y="1816754"/>
            <a:ext cx="13817152" cy="5978505"/>
          </a:xfrm>
          <a:prstGeom prst="rect">
            <a:avLst/>
          </a:prstGeom>
        </p:spPr>
      </p:pic>
    </p:spTree>
    <p:extLst>
      <p:ext uri="{BB962C8B-B14F-4D97-AF65-F5344CB8AC3E}">
        <p14:creationId xmlns:p14="http://schemas.microsoft.com/office/powerpoint/2010/main" val="20814075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00a03a7b-00ed-4e3e-bc42-dbb791088d1c}" enabled="1" method="Standard" siteId="{88636999-d196-43b8-9167-4e6e89ee86e9}" contentBits="0" removed="0"/>
</clbl:labelList>
</file>

<file path=docProps/app.xml><?xml version="1.0" encoding="utf-8"?>
<Properties xmlns="http://schemas.openxmlformats.org/officeDocument/2006/extended-properties" xmlns:vt="http://schemas.openxmlformats.org/officeDocument/2006/docPropsVTypes">
  <TotalTime>507</TotalTime>
  <Words>1195</Words>
  <Application>Microsoft Office PowerPoint</Application>
  <PresentationFormat>Custom</PresentationFormat>
  <Paragraphs>165</Paragraphs>
  <Slides>20</Slides>
  <Notes>20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Inter</vt:lpstr>
      <vt:lpstr>Segoe UI</vt:lpstr>
      <vt:lpstr>DM Sans Medium</vt:lpstr>
      <vt:lpstr>Arial</vt:lpstr>
      <vt:lpstr>Symbol</vt:lpstr>
      <vt:lpstr>Cambria</vt:lpstr>
      <vt:lpstr>Wingdings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SURESH PRAJAPATI / EXT-IT / AHMEDABAD</cp:lastModifiedBy>
  <cp:revision>77</cp:revision>
  <dcterms:created xsi:type="dcterms:W3CDTF">2026-02-23T10:09:11Z</dcterms:created>
  <dcterms:modified xsi:type="dcterms:W3CDTF">2026-03-03T13:14:24Z</dcterms:modified>
</cp:coreProperties>
</file>